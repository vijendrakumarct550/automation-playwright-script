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5e568b46-acdc-2576-0185-bcad10767a84}">
          <p14:sldIdLst>
            <p14:sldId id="256"/>
            <p14:sldId id="257"/>
          </p14:sldIdLst>
        </p14:section>
        <p14:section name="People and flows" id="{f6931468-4b2b-85ae-97f3-fefe9f4dfe2c}">
          <p14:sldIdLst>
            <p14:sldId id="258"/>
            <p14:sldId id="259"/>
            <p14:sldId id="260"/>
            <p14:sldId id="261"/>
            <p14:sldId id="262"/>
            <p14:sldId id="263"/>
          </p14:sldIdLst>
        </p14:section>
        <p14:section name="Activity catalog" id="{34a49a82-216b-6f12-bca7-1db8a478329a}">
          <p14:sldIdLst>
            <p14:sldId id="264"/>
            <p14:sldId id="265"/>
            <p14:sldId id="266"/>
          </p14:sldIdLst>
        </p14:section>
        <p14:section name="Work locations" id="{591ec9ce-be0b-bd01-e8c7-2f47c0ed54d5}">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Work areas</c:v>
                </c:pt>
              </c:strCache>
            </c:strRef>
          </c:tx>
          <c:spPr>
            <a:solidFill>
              <a:srgbClr val="0C6A5E"/>
            </a:solidFill>
            <a:effectLst/>
          </c:spPr>
          <c:invertIfNegative val="0"/>
          <c:dLbls>
            <c:numFmt formatCode="#,##0" sourceLinked="0"/>
            <c:txPr>
              <a:bodyPr/>
              <a:lstStyle/>
              <a:p>
                <a:pPr>
                  <a:defRPr b="0" i="0" strike="noStrike" sz="1100" u="none">
                    <a:solidFill>
                      <a:srgbClr val="16201D"/>
                    </a:solidFill>
                    <a:latin typeface="+mn-lt"/>
                  </a:defRPr>
                </a:pPr>
              </a:p>
            </c:txPr>
            <c:showLegendKey val="0"/>
            <c:showVal val="1"/>
            <c:showCatName val="0"/>
            <c:showSerName val="0"/>
            <c:showPercent val="0"/>
            <c:showBubbleSize val="0"/>
            <c:showLeaderLines val="0"/>
          </c:dLbls>
          <c:cat>
            <c:multiLvlStrRef>
              <c:f>Sheet1!$A$2:$A$5</c:f>
              <c:multiLvlStrCache>
                <c:ptCount val="4"/>
                <c:lvl>
                  <c:pt idx="0">
                    <c:v>Culvert</c:v>
                  </c:pt>
                  <c:pt idx="1">
                    <c:v>Drain</c:v>
                  </c:pt>
                  <c:pt idx="2">
                    <c:v>Road</c:v>
                  </c:pt>
                  <c:pt idx="3">
                    <c:v>BL block</c:v>
                  </c:pt>
                </c:lvl>
              </c:multiLvlStrCache>
            </c:multiLvlStrRef>
          </c:cat>
          <c:val>
            <c:numRef>
              <c:f>Sheet1!$B$2:$B$5</c:f>
              <c:numCache>
                <c:formatCode>General</c:formatCode>
                <c:ptCount val="4"/>
                <c:pt idx="0">
                  <c:v>5</c:v>
                </c:pt>
                <c:pt idx="1">
                  <c:v>20</c:v>
                </c:pt>
                <c:pt idx="2">
                  <c:v>20</c:v>
                </c:pt>
                <c:pt idx="3">
                  <c:v>24</c:v>
                </c:pt>
              </c:numCache>
            </c:numRef>
          </c:val>
        </c:ser>
        <c:dLbls>
          <c:numFmt formatCode="#,##0" sourceLinked="0"/>
          <c:txPr>
            <a:bodyPr/>
            <a:lstStyle/>
            <a:p>
              <a:pPr>
                <a:defRPr b="0" i="0" strike="noStrike" sz="1100" u="none">
                  <a:solidFill>
                    <a:srgbClr val="16201D"/>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86661"/>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Work areas</c:v>
                </c:pt>
              </c:strCache>
            </c:strRef>
          </c:tx>
          <c:spPr>
            <a:solidFill>
              <a:srgbClr val="D98A00"/>
            </a:solidFill>
            <a:effectLst/>
          </c:spPr>
          <c:invertIfNegative val="0"/>
          <c:dLbls>
            <c:numFmt formatCode="#,##0" sourceLinked="0"/>
            <c:txPr>
              <a:bodyPr/>
              <a:lstStyle/>
              <a:p>
                <a:pPr>
                  <a:defRPr b="0" i="0" strike="noStrike" sz="1100" u="none">
                    <a:solidFill>
                      <a:srgbClr val="16201D"/>
                    </a:solidFill>
                    <a:latin typeface="+mn-lt"/>
                  </a:defRPr>
                </a:pPr>
              </a:p>
            </c:txPr>
            <c:showLegendKey val="0"/>
            <c:showVal val="1"/>
            <c:showCatName val="0"/>
            <c:showSerName val="0"/>
            <c:showPercent val="0"/>
            <c:showBubbleSize val="0"/>
            <c:showLeaderLines val="0"/>
          </c:dLbls>
          <c:cat>
            <c:multiLvlStrRef>
              <c:f>Sheet1!$A$2:$A$4</c:f>
              <c:multiLvlStrCache>
                <c:ptCount val="3"/>
                <c:lvl>
                  <c:pt idx="0">
                    <c:v>MP-P</c:v>
                  </c:pt>
                  <c:pt idx="1">
                    <c:v>MNP</c:v>
                  </c:pt>
                  <c:pt idx="2">
                    <c:v>MP turbine</c:v>
                  </c:pt>
                </c:lvl>
              </c:multiLvlStrCache>
            </c:multiLvlStrRef>
          </c:cat>
          <c:val>
            <c:numRef>
              <c:f>Sheet1!$B$2:$B$4</c:f>
              <c:numCache>
                <c:formatCode>General</c:formatCode>
                <c:ptCount val="3"/>
                <c:pt idx="0">
                  <c:v>1</c:v>
                </c:pt>
                <c:pt idx="1">
                  <c:v>2</c:v>
                </c:pt>
                <c:pt idx="2">
                  <c:v>66</c:v>
                </c:pt>
              </c:numCache>
            </c:numRef>
          </c:val>
        </c:ser>
        <c:dLbls>
          <c:numFmt formatCode="#,##0" sourceLinked="0"/>
          <c:txPr>
            <a:bodyPr/>
            <a:lstStyle/>
            <a:p>
              <a:pPr>
                <a:defRPr b="0" i="0" strike="noStrike" sz="1100" u="none">
                  <a:solidFill>
                    <a:srgbClr val="16201D"/>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86661"/>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3D36"/>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C4BC"/>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rgbClr val="0B3D36"/>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86661"/>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C4BC"/>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097280"/>
            <a:ext cx="7863840" cy="274320"/>
          </a:xfrm>
          <a:prstGeom prst="rect">
            <a:avLst/>
          </a:prstGeom>
          <a:noFill/>
          <a:ln/>
        </p:spPr>
        <p:txBody>
          <a:bodyPr wrap="square" lIns="0" tIns="0" rIns="0" bIns="0" rtlCol="0" anchor="ctr"/>
          <a:lstStyle/>
          <a:p>
            <a:pPr indent="0" marL="0">
              <a:buNone/>
            </a:pPr>
            <a:r>
              <a:rPr lang="en-US" sz="1200" b="1" spc="400" kern="0" dirty="0">
                <a:solidFill>
                  <a:srgbClr val="9FC4BC"/>
                </a:solidFill>
              </a:rPr>
              <a:t>KNOWLEDGE TRANSFER</a:t>
            </a:r>
            <a:endParaRPr lang="en-US" sz="1200" dirty="0"/>
          </a:p>
        </p:txBody>
      </p:sp>
      <p:sp>
        <p:nvSpPr>
          <p:cNvPr id="3" name="Text 1"/>
          <p:cNvSpPr txBox="1"/>
          <p:nvPr/>
        </p:nvSpPr>
        <p:spPr>
          <a:xfrm>
            <a:off x="640080" y="1463040"/>
            <a:ext cx="786384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PULSE</a:t>
            </a:r>
            <a:endParaRPr lang="en-US" sz="6000" dirty="0"/>
          </a:p>
        </p:txBody>
      </p:sp>
      <p:sp>
        <p:nvSpPr>
          <p:cNvPr id="4" name="Text 2"/>
          <p:cNvSpPr txBox="1"/>
          <p:nvPr/>
        </p:nvSpPr>
        <p:spPr>
          <a:xfrm>
            <a:off x="640080" y="2560320"/>
            <a:ext cx="7863840" cy="457200"/>
          </a:xfrm>
          <a:prstGeom prst="rect">
            <a:avLst/>
          </a:prstGeom>
          <a:noFill/>
          <a:ln/>
        </p:spPr>
        <p:txBody>
          <a:bodyPr wrap="square" lIns="0" tIns="0" rIns="0" bIns="0" rtlCol="0" anchor="ctr"/>
          <a:lstStyle/>
          <a:p>
            <a:pPr indent="0" marL="0">
              <a:buNone/>
            </a:pPr>
            <a:r>
              <a:rPr lang="en-US" sz="2400" dirty="0">
                <a:solidFill>
                  <a:srgbClr val="F0B24D"/>
                </a:solidFill>
                <a:latin typeface="Cambria" pitchFamily="34" charset="0"/>
                <a:ea typeface="Cambria" pitchFamily="34" charset="-122"/>
                <a:cs typeface="Cambria" pitchFamily="34" charset="-120"/>
              </a:rPr>
              <a:t>Who does what, on which work, and where</a:t>
            </a:r>
            <a:endParaRPr lang="en-US" sz="2400" dirty="0"/>
          </a:p>
        </p:txBody>
      </p:sp>
      <p:sp>
        <p:nvSpPr>
          <p:cNvPr id="5" name="Text 3"/>
          <p:cNvSpPr txBox="1"/>
          <p:nvPr/>
        </p:nvSpPr>
        <p:spPr>
          <a:xfrm>
            <a:off x="640080" y="3931920"/>
            <a:ext cx="7863840" cy="365760"/>
          </a:xfrm>
          <a:prstGeom prst="rect">
            <a:avLst/>
          </a:prstGeom>
          <a:noFill/>
          <a:ln/>
        </p:spPr>
        <p:txBody>
          <a:bodyPr wrap="square" lIns="0" tIns="0" rIns="0" bIns="0" rtlCol="0" anchor="ctr"/>
          <a:lstStyle/>
          <a:p>
            <a:pPr indent="0" marL="0">
              <a:buNone/>
            </a:pPr>
            <a:r>
              <a:rPr lang="en-US" sz="1400" dirty="0">
                <a:solidFill>
                  <a:srgbClr val="CFE3DE"/>
                </a:solidFill>
              </a:rPr>
              <a:t>User roles and the RFI and NC flows  |  Activity catalog  |  Work location hierarchy</a:t>
            </a:r>
            <a:endParaRPr lang="en-US" sz="14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C4BC"/>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B3D36"/>
                </a:solidFill>
                <a:latin typeface="Cambria" pitchFamily="34" charset="0"/>
                <a:ea typeface="Cambria" pitchFamily="34" charset="-122"/>
                <a:cs typeface="Cambria" pitchFamily="34" charset="-120"/>
              </a:rPr>
              <a:t>What PULSE does</a:t>
            </a:r>
            <a:endParaRPr lang="en-US" sz="3000" dirty="0"/>
          </a:p>
        </p:txBody>
      </p:sp>
      <p:sp>
        <p:nvSpPr>
          <p:cNvPr id="3" name="Text 1"/>
          <p:cNvSpPr txBox="1"/>
          <p:nvPr/>
        </p:nvSpPr>
        <p:spPr>
          <a:xfrm>
            <a:off x="457200" y="1051560"/>
            <a:ext cx="8229600" cy="640080"/>
          </a:xfrm>
          <a:prstGeom prst="rect">
            <a:avLst/>
          </a:prstGeom>
          <a:noFill/>
          <a:ln/>
        </p:spPr>
        <p:txBody>
          <a:bodyPr wrap="square" lIns="0" tIns="0" rIns="0" bIns="0" rtlCol="0" anchor="ctr"/>
          <a:lstStyle/>
          <a:p>
            <a:pPr indent="0" marL="0">
              <a:buNone/>
            </a:pPr>
            <a:r>
              <a:rPr lang="en-US" sz="1600" dirty="0">
                <a:solidFill>
                  <a:srgbClr val="000000"/>
                </a:solidFill>
              </a:rPr>
              <a:t>PULSE is the field inspection and quality app for construction sites. Solar is live; wind, BESS, infra, PSS and transmission line follow.</a:t>
            </a:r>
            <a:endParaRPr lang="en-US" sz="1600" dirty="0"/>
          </a:p>
        </p:txBody>
      </p:sp>
      <p:sp>
        <p:nvSpPr>
          <p:cNvPr id="4" name="card RFI"/>
          <p:cNvSpPr/>
          <p:nvPr/>
        </p:nvSpPr>
        <p:spPr>
          <a:xfrm>
            <a:off x="457200" y="1828800"/>
            <a:ext cx="2606040" cy="1417320"/>
          </a:xfrm>
          <a:prstGeom prst="roundRect">
            <a:avLst>
              <a:gd name="adj" fmla="val 5161"/>
            </a:avLst>
          </a:prstGeom>
          <a:solidFill>
            <a:srgbClr val="EEF3F0"/>
          </a:solidFill>
          <a:ln w="9525">
            <a:solidFill>
              <a:srgbClr val="D3DAD5"/>
            </a:solidFill>
            <a:prstDash val="solid"/>
          </a:ln>
        </p:spPr>
      </p:sp>
      <p:sp>
        <p:nvSpPr>
          <p:cNvPr id="5" name="Text 3"/>
          <p:cNvSpPr txBox="1"/>
          <p:nvPr/>
        </p:nvSpPr>
        <p:spPr>
          <a:xfrm>
            <a:off x="621792" y="1938528"/>
            <a:ext cx="2276856" cy="320040"/>
          </a:xfrm>
          <a:prstGeom prst="rect">
            <a:avLst/>
          </a:prstGeom>
          <a:noFill/>
          <a:ln/>
        </p:spPr>
        <p:txBody>
          <a:bodyPr wrap="square" lIns="0" tIns="0" rIns="0" bIns="0" rtlCol="0" anchor="t"/>
          <a:lstStyle/>
          <a:p>
            <a:pPr indent="0" marL="0">
              <a:buNone/>
            </a:pPr>
            <a:r>
              <a:rPr lang="en-US" sz="1600" b="1" dirty="0">
                <a:solidFill>
                  <a:srgbClr val="0B3D36"/>
                </a:solidFill>
                <a:latin typeface="Cambria" pitchFamily="34" charset="0"/>
                <a:ea typeface="Cambria" pitchFamily="34" charset="-122"/>
                <a:cs typeface="Cambria" pitchFamily="34" charset="-120"/>
              </a:rPr>
              <a:t>RFI</a:t>
            </a:r>
            <a:endParaRPr lang="en-US" sz="1600" dirty="0"/>
          </a:p>
        </p:txBody>
      </p:sp>
      <p:sp>
        <p:nvSpPr>
          <p:cNvPr id="6" name="Text 4"/>
          <p:cNvSpPr txBox="1"/>
          <p:nvPr/>
        </p:nvSpPr>
        <p:spPr>
          <a:xfrm>
            <a:off x="621792" y="2304288"/>
            <a:ext cx="2276856" cy="850392"/>
          </a:xfrm>
          <a:prstGeom prst="rect">
            <a:avLst/>
          </a:prstGeom>
          <a:noFill/>
          <a:ln/>
        </p:spPr>
        <p:txBody>
          <a:bodyPr wrap="square" lIns="0" tIns="0" rIns="0" bIns="0" rtlCol="0" anchor="t"/>
          <a:lstStyle/>
          <a:p>
            <a:pPr indent="0" marL="0">
              <a:spcAft>
                <a:spcPts val="400"/>
              </a:spcAft>
              <a:buNone/>
            </a:pPr>
            <a:r>
              <a:rPr lang="en-US" sz="1400" dirty="0">
                <a:solidFill>
                  <a:srgbClr val="16201D"/>
                </a:solidFill>
              </a:rPr>
              <a:t>Request for Inspection. A contractor says work is ready and reviewers decide.</a:t>
            </a:r>
            <a:endParaRPr lang="en-US" sz="1400" dirty="0"/>
          </a:p>
        </p:txBody>
      </p:sp>
      <p:sp>
        <p:nvSpPr>
          <p:cNvPr id="7" name="card NC"/>
          <p:cNvSpPr/>
          <p:nvPr/>
        </p:nvSpPr>
        <p:spPr>
          <a:xfrm>
            <a:off x="3268980" y="1828800"/>
            <a:ext cx="2606040" cy="1417320"/>
          </a:xfrm>
          <a:prstGeom prst="roundRect">
            <a:avLst>
              <a:gd name="adj" fmla="val 5161"/>
            </a:avLst>
          </a:prstGeom>
          <a:solidFill>
            <a:srgbClr val="EEF3F0"/>
          </a:solidFill>
          <a:ln w="9525">
            <a:solidFill>
              <a:srgbClr val="D3DAD5"/>
            </a:solidFill>
            <a:prstDash val="solid"/>
          </a:ln>
        </p:spPr>
      </p:sp>
      <p:sp>
        <p:nvSpPr>
          <p:cNvPr id="8" name="Text 6"/>
          <p:cNvSpPr txBox="1"/>
          <p:nvPr/>
        </p:nvSpPr>
        <p:spPr>
          <a:xfrm>
            <a:off x="3433572" y="1938528"/>
            <a:ext cx="2276856" cy="320040"/>
          </a:xfrm>
          <a:prstGeom prst="rect">
            <a:avLst/>
          </a:prstGeom>
          <a:noFill/>
          <a:ln/>
        </p:spPr>
        <p:txBody>
          <a:bodyPr wrap="square" lIns="0" tIns="0" rIns="0" bIns="0" rtlCol="0" anchor="t"/>
          <a:lstStyle/>
          <a:p>
            <a:pPr indent="0" marL="0">
              <a:buNone/>
            </a:pPr>
            <a:r>
              <a:rPr lang="en-US" sz="1600" b="1" dirty="0">
                <a:solidFill>
                  <a:srgbClr val="0B3D36"/>
                </a:solidFill>
                <a:latin typeface="Cambria" pitchFamily="34" charset="0"/>
                <a:ea typeface="Cambria" pitchFamily="34" charset="-122"/>
                <a:cs typeface="Cambria" pitchFamily="34" charset="-120"/>
              </a:rPr>
              <a:t>NC</a:t>
            </a:r>
            <a:endParaRPr lang="en-US" sz="1600" dirty="0"/>
          </a:p>
        </p:txBody>
      </p:sp>
      <p:sp>
        <p:nvSpPr>
          <p:cNvPr id="9" name="Text 7"/>
          <p:cNvSpPr txBox="1"/>
          <p:nvPr/>
        </p:nvSpPr>
        <p:spPr>
          <a:xfrm>
            <a:off x="3433572" y="2304288"/>
            <a:ext cx="2276856" cy="850392"/>
          </a:xfrm>
          <a:prstGeom prst="rect">
            <a:avLst/>
          </a:prstGeom>
          <a:noFill/>
          <a:ln/>
        </p:spPr>
        <p:txBody>
          <a:bodyPr wrap="square" lIns="0" tIns="0" rIns="0" bIns="0" rtlCol="0" anchor="t"/>
          <a:lstStyle/>
          <a:p>
            <a:pPr indent="0" marL="0">
              <a:spcAft>
                <a:spcPts val="400"/>
              </a:spcAft>
              <a:buNone/>
            </a:pPr>
            <a:r>
              <a:rPr lang="en-US" sz="1400" dirty="0">
                <a:solidFill>
                  <a:srgbClr val="16201D"/>
                </a:solidFill>
              </a:rPr>
              <a:t>Non-Conformance. Quality staff record work that falls short, the contractor fixes it.</a:t>
            </a:r>
            <a:endParaRPr lang="en-US" sz="1400" dirty="0"/>
          </a:p>
        </p:txBody>
      </p:sp>
      <p:sp>
        <p:nvSpPr>
          <p:cNvPr id="10" name="card WAM"/>
          <p:cNvSpPr/>
          <p:nvPr/>
        </p:nvSpPr>
        <p:spPr>
          <a:xfrm>
            <a:off x="6080760" y="1828800"/>
            <a:ext cx="2606040" cy="1417320"/>
          </a:xfrm>
          <a:prstGeom prst="roundRect">
            <a:avLst>
              <a:gd name="adj" fmla="val 5161"/>
            </a:avLst>
          </a:prstGeom>
          <a:solidFill>
            <a:srgbClr val="EEF3F0"/>
          </a:solidFill>
          <a:ln w="9525">
            <a:solidFill>
              <a:srgbClr val="D3DAD5"/>
            </a:solidFill>
            <a:prstDash val="solid"/>
          </a:ln>
        </p:spPr>
      </p:sp>
      <p:sp>
        <p:nvSpPr>
          <p:cNvPr id="11" name="Text 9"/>
          <p:cNvSpPr txBox="1"/>
          <p:nvPr/>
        </p:nvSpPr>
        <p:spPr>
          <a:xfrm>
            <a:off x="6245352" y="1938528"/>
            <a:ext cx="2276856" cy="320040"/>
          </a:xfrm>
          <a:prstGeom prst="rect">
            <a:avLst/>
          </a:prstGeom>
          <a:noFill/>
          <a:ln/>
        </p:spPr>
        <p:txBody>
          <a:bodyPr wrap="square" lIns="0" tIns="0" rIns="0" bIns="0" rtlCol="0" anchor="t"/>
          <a:lstStyle/>
          <a:p>
            <a:pPr indent="0" marL="0">
              <a:buNone/>
            </a:pPr>
            <a:r>
              <a:rPr lang="en-US" sz="1600" b="1" dirty="0">
                <a:solidFill>
                  <a:srgbClr val="0B3D36"/>
                </a:solidFill>
                <a:latin typeface="Cambria" pitchFamily="34" charset="0"/>
                <a:ea typeface="Cambria" pitchFamily="34" charset="-122"/>
                <a:cs typeface="Cambria" pitchFamily="34" charset="-120"/>
              </a:rPr>
              <a:t>WAM</a:t>
            </a:r>
            <a:endParaRPr lang="en-US" sz="1600" dirty="0"/>
          </a:p>
        </p:txBody>
      </p:sp>
      <p:sp>
        <p:nvSpPr>
          <p:cNvPr id="12" name="Text 10"/>
          <p:cNvSpPr txBox="1"/>
          <p:nvPr/>
        </p:nvSpPr>
        <p:spPr>
          <a:xfrm>
            <a:off x="6245352" y="2304288"/>
            <a:ext cx="2276856" cy="850392"/>
          </a:xfrm>
          <a:prstGeom prst="rect">
            <a:avLst/>
          </a:prstGeom>
          <a:noFill/>
          <a:ln/>
        </p:spPr>
        <p:txBody>
          <a:bodyPr wrap="square" lIns="0" tIns="0" rIns="0" bIns="0" rtlCol="0" anchor="t"/>
          <a:lstStyle/>
          <a:p>
            <a:pPr indent="0" marL="0">
              <a:spcAft>
                <a:spcPts val="400"/>
              </a:spcAft>
              <a:buNone/>
            </a:pPr>
            <a:r>
              <a:rPr lang="en-US" sz="1400" dirty="0">
                <a:solidFill>
                  <a:srgbClr val="16201D"/>
                </a:solidFill>
              </a:rPr>
              <a:t>Work Area Management. Maps each role to the part of the site they may act on.</a:t>
            </a:r>
            <a:endParaRPr lang="en-US" sz="1400" dirty="0"/>
          </a:p>
        </p:txBody>
      </p:sp>
      <p:sp>
        <p:nvSpPr>
          <p:cNvPr id="13" name="Text 11"/>
          <p:cNvSpPr txBox="1"/>
          <p:nvPr/>
        </p:nvSpPr>
        <p:spPr>
          <a:xfrm>
            <a:off x="457200" y="3474720"/>
            <a:ext cx="8229600" cy="274320"/>
          </a:xfrm>
          <a:prstGeom prst="rect">
            <a:avLst/>
          </a:prstGeom>
          <a:noFill/>
          <a:ln/>
        </p:spPr>
        <p:txBody>
          <a:bodyPr wrap="square" lIns="0" tIns="0" rIns="0" bIns="0" rtlCol="0" anchor="ctr"/>
          <a:lstStyle/>
          <a:p>
            <a:pPr indent="0" marL="0">
              <a:buNone/>
            </a:pPr>
            <a:r>
              <a:rPr lang="en-US" sz="1400" b="1" dirty="0">
                <a:solidFill>
                  <a:srgbClr val="586661"/>
                </a:solidFill>
              </a:rPr>
              <a:t>Today's three topics</a:t>
            </a:r>
            <a:endParaRPr lang="en-US" sz="1400" dirty="0"/>
          </a:p>
        </p:txBody>
      </p:sp>
      <p:sp>
        <p:nvSpPr>
          <p:cNvPr id="14" name="Shape 12"/>
          <p:cNvSpPr/>
          <p:nvPr/>
        </p:nvSpPr>
        <p:spPr>
          <a:xfrm>
            <a:off x="457200" y="3840480"/>
            <a:ext cx="2606040" cy="457200"/>
          </a:xfrm>
          <a:prstGeom prst="roundRect">
            <a:avLst>
              <a:gd name="adj" fmla="val 14000"/>
            </a:avLst>
          </a:prstGeom>
          <a:solidFill>
            <a:srgbClr val="0C6A5E"/>
          </a:solidFill>
          <a:ln w="6350">
            <a:solidFill>
              <a:srgbClr val="0C6A5E"/>
            </a:solidFill>
            <a:prstDash val="solid"/>
          </a:ln>
        </p:spPr>
      </p:sp>
      <p:sp>
        <p:nvSpPr>
          <p:cNvPr id="15" name="Text 13"/>
          <p:cNvSpPr txBox="1"/>
          <p:nvPr/>
        </p:nvSpPr>
        <p:spPr>
          <a:xfrm>
            <a:off x="457200" y="3840480"/>
            <a:ext cx="2606040" cy="457200"/>
          </a:xfrm>
          <a:prstGeom prst="rect">
            <a:avLst/>
          </a:prstGeom>
          <a:noFill/>
          <a:ln/>
        </p:spPr>
        <p:txBody>
          <a:bodyPr wrap="square" lIns="0" tIns="0" rIns="0" bIns="0" rtlCol="0" anchor="ctr"/>
          <a:lstStyle/>
          <a:p>
            <a:pPr algn="ctr" indent="0" marL="0">
              <a:buNone/>
            </a:pPr>
            <a:r>
              <a:rPr lang="en-US" sz="1400" b="1" dirty="0">
                <a:solidFill>
                  <a:srgbClr val="FFFFFF"/>
                </a:solidFill>
              </a:rPr>
              <a:t>1  People and flows</a:t>
            </a:r>
            <a:endParaRPr lang="en-US" sz="1400" dirty="0"/>
          </a:p>
        </p:txBody>
      </p:sp>
      <p:sp>
        <p:nvSpPr>
          <p:cNvPr id="16" name="Shape 14"/>
          <p:cNvSpPr/>
          <p:nvPr/>
        </p:nvSpPr>
        <p:spPr>
          <a:xfrm>
            <a:off x="3268980" y="3840480"/>
            <a:ext cx="2606040" cy="457200"/>
          </a:xfrm>
          <a:prstGeom prst="roundRect">
            <a:avLst>
              <a:gd name="adj" fmla="val 14000"/>
            </a:avLst>
          </a:prstGeom>
          <a:solidFill>
            <a:srgbClr val="0C6A5E"/>
          </a:solidFill>
          <a:ln w="6350">
            <a:solidFill>
              <a:srgbClr val="0C6A5E"/>
            </a:solidFill>
            <a:prstDash val="solid"/>
          </a:ln>
        </p:spPr>
      </p:sp>
      <p:sp>
        <p:nvSpPr>
          <p:cNvPr id="17" name="Text 15"/>
          <p:cNvSpPr txBox="1"/>
          <p:nvPr/>
        </p:nvSpPr>
        <p:spPr>
          <a:xfrm>
            <a:off x="3268980" y="3840480"/>
            <a:ext cx="2606040" cy="457200"/>
          </a:xfrm>
          <a:prstGeom prst="rect">
            <a:avLst/>
          </a:prstGeom>
          <a:noFill/>
          <a:ln/>
        </p:spPr>
        <p:txBody>
          <a:bodyPr wrap="square" lIns="0" tIns="0" rIns="0" bIns="0" rtlCol="0" anchor="ctr"/>
          <a:lstStyle/>
          <a:p>
            <a:pPr algn="ctr" indent="0" marL="0">
              <a:buNone/>
            </a:pPr>
            <a:r>
              <a:rPr lang="en-US" sz="1400" b="1" dirty="0">
                <a:solidFill>
                  <a:srgbClr val="FFFFFF"/>
                </a:solidFill>
              </a:rPr>
              <a:t>2  Activity catalog</a:t>
            </a:r>
            <a:endParaRPr lang="en-US" sz="1400" dirty="0"/>
          </a:p>
        </p:txBody>
      </p:sp>
      <p:sp>
        <p:nvSpPr>
          <p:cNvPr id="18" name="Shape 16"/>
          <p:cNvSpPr/>
          <p:nvPr/>
        </p:nvSpPr>
        <p:spPr>
          <a:xfrm>
            <a:off x="6080760" y="3840480"/>
            <a:ext cx="2606040" cy="457200"/>
          </a:xfrm>
          <a:prstGeom prst="roundRect">
            <a:avLst>
              <a:gd name="adj" fmla="val 14000"/>
            </a:avLst>
          </a:prstGeom>
          <a:solidFill>
            <a:srgbClr val="0C6A5E"/>
          </a:solidFill>
          <a:ln w="6350">
            <a:solidFill>
              <a:srgbClr val="0C6A5E"/>
            </a:solidFill>
            <a:prstDash val="solid"/>
          </a:ln>
        </p:spPr>
      </p:sp>
      <p:sp>
        <p:nvSpPr>
          <p:cNvPr id="19" name="Text 17"/>
          <p:cNvSpPr txBox="1"/>
          <p:nvPr/>
        </p:nvSpPr>
        <p:spPr>
          <a:xfrm>
            <a:off x="6080760" y="3840480"/>
            <a:ext cx="2606040" cy="457200"/>
          </a:xfrm>
          <a:prstGeom prst="rect">
            <a:avLst/>
          </a:prstGeom>
          <a:noFill/>
          <a:ln/>
        </p:spPr>
        <p:txBody>
          <a:bodyPr wrap="square" lIns="0" tIns="0" rIns="0" bIns="0" rtlCol="0" anchor="ctr"/>
          <a:lstStyle/>
          <a:p>
            <a:pPr algn="ctr" indent="0" marL="0">
              <a:buNone/>
            </a:pPr>
            <a:r>
              <a:rPr lang="en-US" sz="1400" b="1" dirty="0">
                <a:solidFill>
                  <a:srgbClr val="FFFFFF"/>
                </a:solidFill>
              </a:rPr>
              <a:t>3  Work locations</a:t>
            </a:r>
            <a:endParaRPr lang="en-US" sz="14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8666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B3D36"/>
                </a:solidFill>
                <a:latin typeface="Cambria" pitchFamily="34" charset="0"/>
                <a:ea typeface="Cambria" pitchFamily="34" charset="-122"/>
                <a:cs typeface="Cambria" pitchFamily="34" charset="-120"/>
              </a:rPr>
              <a:t>Eleven roles, one chain of assignment</a:t>
            </a:r>
            <a:endParaRPr lang="en-US" sz="3000" dirty="0"/>
          </a:p>
        </p:txBody>
      </p:sp>
      <p:sp>
        <p:nvSpPr>
          <p:cNvPr id="3" name="Shape 1"/>
          <p:cNvSpPr/>
          <p:nvPr/>
        </p:nvSpPr>
        <p:spPr>
          <a:xfrm>
            <a:off x="3520440" y="1051560"/>
            <a:ext cx="2103120" cy="329184"/>
          </a:xfrm>
          <a:prstGeom prst="roundRect">
            <a:avLst>
              <a:gd name="adj" fmla="val 19444"/>
            </a:avLst>
          </a:prstGeom>
          <a:solidFill>
            <a:srgbClr val="DDE8F7"/>
          </a:solidFill>
          <a:ln w="6350">
            <a:solidFill>
              <a:srgbClr val="DDE8F7"/>
            </a:solidFill>
            <a:prstDash val="solid"/>
          </a:ln>
        </p:spPr>
      </p:sp>
      <p:sp>
        <p:nvSpPr>
          <p:cNvPr id="4" name="Text 2"/>
          <p:cNvSpPr txBox="1"/>
          <p:nvPr/>
        </p:nvSpPr>
        <p:spPr>
          <a:xfrm>
            <a:off x="3520440" y="1051560"/>
            <a:ext cx="2103120" cy="329184"/>
          </a:xfrm>
          <a:prstGeom prst="rect">
            <a:avLst/>
          </a:prstGeom>
          <a:noFill/>
          <a:ln/>
        </p:spPr>
        <p:txBody>
          <a:bodyPr wrap="square" lIns="0" tIns="0" rIns="0" bIns="0" rtlCol="0" anchor="ctr"/>
          <a:lstStyle/>
          <a:p>
            <a:pPr algn="ctr" indent="0" marL="0">
              <a:buNone/>
            </a:pPr>
            <a:r>
              <a:rPr lang="en-US" sz="1200" b="1" dirty="0">
                <a:solidFill>
                  <a:srgbClr val="1F4C8F"/>
                </a:solidFill>
              </a:rPr>
              <a:t>Admin</a:t>
            </a:r>
            <a:endParaRPr lang="en-US" sz="1200" dirty="0"/>
          </a:p>
        </p:txBody>
      </p:sp>
      <p:sp>
        <p:nvSpPr>
          <p:cNvPr id="5" name="Shape 3"/>
          <p:cNvSpPr/>
          <p:nvPr/>
        </p:nvSpPr>
        <p:spPr>
          <a:xfrm>
            <a:off x="3520440" y="1463040"/>
            <a:ext cx="2103120" cy="329184"/>
          </a:xfrm>
          <a:prstGeom prst="roundRect">
            <a:avLst>
              <a:gd name="adj" fmla="val 19444"/>
            </a:avLst>
          </a:prstGeom>
          <a:solidFill>
            <a:srgbClr val="DDE8F7"/>
          </a:solidFill>
          <a:ln w="6350">
            <a:solidFill>
              <a:srgbClr val="DDE8F7"/>
            </a:solidFill>
            <a:prstDash val="solid"/>
          </a:ln>
        </p:spPr>
      </p:sp>
      <p:sp>
        <p:nvSpPr>
          <p:cNvPr id="6" name="Text 4"/>
          <p:cNvSpPr txBox="1"/>
          <p:nvPr/>
        </p:nvSpPr>
        <p:spPr>
          <a:xfrm>
            <a:off x="3520440" y="1463040"/>
            <a:ext cx="2103120" cy="329184"/>
          </a:xfrm>
          <a:prstGeom prst="rect">
            <a:avLst/>
          </a:prstGeom>
          <a:noFill/>
          <a:ln/>
        </p:spPr>
        <p:txBody>
          <a:bodyPr wrap="square" lIns="0" tIns="0" rIns="0" bIns="0" rtlCol="0" anchor="ctr"/>
          <a:lstStyle/>
          <a:p>
            <a:pPr algn="ctr" indent="0" marL="0">
              <a:buNone/>
            </a:pPr>
            <a:r>
              <a:rPr lang="en-US" sz="1200" b="1" dirty="0">
                <a:solidFill>
                  <a:srgbClr val="1F4C8F"/>
                </a:solidFill>
              </a:rPr>
              <a:t>Cluster Admin</a:t>
            </a:r>
            <a:endParaRPr lang="en-US" sz="1200" dirty="0"/>
          </a:p>
        </p:txBody>
      </p:sp>
      <p:sp>
        <p:nvSpPr>
          <p:cNvPr id="7" name="Shape 5"/>
          <p:cNvSpPr/>
          <p:nvPr/>
        </p:nvSpPr>
        <p:spPr>
          <a:xfrm>
            <a:off x="3520440" y="1874520"/>
            <a:ext cx="2103120" cy="329184"/>
          </a:xfrm>
          <a:prstGeom prst="roundRect">
            <a:avLst>
              <a:gd name="adj" fmla="val 19444"/>
            </a:avLst>
          </a:prstGeom>
          <a:solidFill>
            <a:srgbClr val="DDE8F7"/>
          </a:solidFill>
          <a:ln w="6350">
            <a:solidFill>
              <a:srgbClr val="DDE8F7"/>
            </a:solidFill>
            <a:prstDash val="solid"/>
          </a:ln>
        </p:spPr>
      </p:sp>
      <p:sp>
        <p:nvSpPr>
          <p:cNvPr id="8" name="Text 6"/>
          <p:cNvSpPr txBox="1"/>
          <p:nvPr/>
        </p:nvSpPr>
        <p:spPr>
          <a:xfrm>
            <a:off x="3520440" y="1874520"/>
            <a:ext cx="2103120" cy="329184"/>
          </a:xfrm>
          <a:prstGeom prst="rect">
            <a:avLst/>
          </a:prstGeom>
          <a:noFill/>
          <a:ln/>
        </p:spPr>
        <p:txBody>
          <a:bodyPr wrap="square" lIns="0" tIns="0" rIns="0" bIns="0" rtlCol="0" anchor="ctr"/>
          <a:lstStyle/>
          <a:p>
            <a:pPr algn="ctr" indent="0" marL="0">
              <a:buNone/>
            </a:pPr>
            <a:r>
              <a:rPr lang="en-US" sz="1200" b="1" dirty="0">
                <a:solidFill>
                  <a:srgbClr val="1F4C8F"/>
                </a:solidFill>
              </a:rPr>
              <a:t>Site Admin</a:t>
            </a:r>
            <a:endParaRPr lang="en-US" sz="1200" dirty="0"/>
          </a:p>
        </p:txBody>
      </p:sp>
      <p:sp>
        <p:nvSpPr>
          <p:cNvPr id="9" name="Shape 7"/>
          <p:cNvSpPr/>
          <p:nvPr/>
        </p:nvSpPr>
        <p:spPr>
          <a:xfrm>
            <a:off x="3520440" y="2286000"/>
            <a:ext cx="2103120" cy="329184"/>
          </a:xfrm>
          <a:prstGeom prst="roundRect">
            <a:avLst>
              <a:gd name="adj" fmla="val 19444"/>
            </a:avLst>
          </a:prstGeom>
          <a:solidFill>
            <a:srgbClr val="DDE8F7"/>
          </a:solidFill>
          <a:ln w="6350">
            <a:solidFill>
              <a:srgbClr val="DDE8F7"/>
            </a:solidFill>
            <a:prstDash val="solid"/>
          </a:ln>
        </p:spPr>
      </p:sp>
      <p:sp>
        <p:nvSpPr>
          <p:cNvPr id="10" name="Text 8"/>
          <p:cNvSpPr txBox="1"/>
          <p:nvPr/>
        </p:nvSpPr>
        <p:spPr>
          <a:xfrm>
            <a:off x="3520440" y="2286000"/>
            <a:ext cx="2103120" cy="329184"/>
          </a:xfrm>
          <a:prstGeom prst="rect">
            <a:avLst/>
          </a:prstGeom>
          <a:noFill/>
          <a:ln/>
        </p:spPr>
        <p:txBody>
          <a:bodyPr wrap="square" lIns="0" tIns="0" rIns="0" bIns="0" rtlCol="0" anchor="ctr"/>
          <a:lstStyle/>
          <a:p>
            <a:pPr algn="ctr" indent="0" marL="0">
              <a:buNone/>
            </a:pPr>
            <a:r>
              <a:rPr lang="en-US" sz="1200" b="1" dirty="0">
                <a:solidFill>
                  <a:srgbClr val="1F4C8F"/>
                </a:solidFill>
              </a:rPr>
              <a:t>Plot Admin</a:t>
            </a:r>
            <a:endParaRPr lang="en-US" sz="1200" dirty="0"/>
          </a:p>
        </p:txBody>
      </p:sp>
      <p:sp>
        <p:nvSpPr>
          <p:cNvPr id="11" name="Shape 9"/>
          <p:cNvSpPr/>
          <p:nvPr/>
        </p:nvSpPr>
        <p:spPr>
          <a:xfrm>
            <a:off x="3520440" y="2697480"/>
            <a:ext cx="2103120" cy="329184"/>
          </a:xfrm>
          <a:prstGeom prst="roundRect">
            <a:avLst>
              <a:gd name="adj" fmla="val 19444"/>
            </a:avLst>
          </a:prstGeom>
          <a:solidFill>
            <a:srgbClr val="DDE8F7"/>
          </a:solidFill>
          <a:ln w="6350">
            <a:solidFill>
              <a:srgbClr val="DDE8F7"/>
            </a:solidFill>
            <a:prstDash val="solid"/>
          </a:ln>
        </p:spPr>
      </p:sp>
      <p:sp>
        <p:nvSpPr>
          <p:cNvPr id="12" name="Text 10"/>
          <p:cNvSpPr txBox="1"/>
          <p:nvPr/>
        </p:nvSpPr>
        <p:spPr>
          <a:xfrm>
            <a:off x="3520440" y="2697480"/>
            <a:ext cx="2103120" cy="329184"/>
          </a:xfrm>
          <a:prstGeom prst="rect">
            <a:avLst/>
          </a:prstGeom>
          <a:noFill/>
          <a:ln/>
        </p:spPr>
        <p:txBody>
          <a:bodyPr wrap="square" lIns="0" tIns="0" rIns="0" bIns="0" rtlCol="0" anchor="ctr"/>
          <a:lstStyle/>
          <a:p>
            <a:pPr algn="ctr" indent="0" marL="0">
              <a:buNone/>
            </a:pPr>
            <a:r>
              <a:rPr lang="en-US" sz="1200" b="1" dirty="0">
                <a:solidFill>
                  <a:srgbClr val="1F4C8F"/>
                </a:solidFill>
              </a:rPr>
              <a:t>Project Manager</a:t>
            </a:r>
            <a:endParaRPr lang="en-US" sz="1200" dirty="0"/>
          </a:p>
        </p:txBody>
      </p:sp>
      <p:sp>
        <p:nvSpPr>
          <p:cNvPr id="13" name="Shape 11"/>
          <p:cNvSpPr/>
          <p:nvPr/>
        </p:nvSpPr>
        <p:spPr>
          <a:xfrm>
            <a:off x="1097280" y="3246120"/>
            <a:ext cx="2103120" cy="329184"/>
          </a:xfrm>
          <a:prstGeom prst="roundRect">
            <a:avLst>
              <a:gd name="adj" fmla="val 19444"/>
            </a:avLst>
          </a:prstGeom>
          <a:solidFill>
            <a:srgbClr val="DDE8F7"/>
          </a:solidFill>
          <a:ln w="6350">
            <a:solidFill>
              <a:srgbClr val="DDE8F7"/>
            </a:solidFill>
            <a:prstDash val="solid"/>
          </a:ln>
        </p:spPr>
      </p:sp>
      <p:sp>
        <p:nvSpPr>
          <p:cNvPr id="14" name="Text 12"/>
          <p:cNvSpPr txBox="1"/>
          <p:nvPr/>
        </p:nvSpPr>
        <p:spPr>
          <a:xfrm>
            <a:off x="1097280" y="3246120"/>
            <a:ext cx="2103120" cy="329184"/>
          </a:xfrm>
          <a:prstGeom prst="rect">
            <a:avLst/>
          </a:prstGeom>
          <a:noFill/>
          <a:ln/>
        </p:spPr>
        <p:txBody>
          <a:bodyPr wrap="square" lIns="0" tIns="0" rIns="0" bIns="0" rtlCol="0" anchor="ctr"/>
          <a:lstStyle/>
          <a:p>
            <a:pPr algn="ctr" indent="0" marL="0">
              <a:buNone/>
            </a:pPr>
            <a:r>
              <a:rPr lang="en-US" sz="1200" b="1" dirty="0">
                <a:solidFill>
                  <a:srgbClr val="1F4C8F"/>
                </a:solidFill>
              </a:rPr>
              <a:t>Execution Lead</a:t>
            </a:r>
            <a:endParaRPr lang="en-US" sz="1200" dirty="0"/>
          </a:p>
        </p:txBody>
      </p:sp>
      <p:sp>
        <p:nvSpPr>
          <p:cNvPr id="15" name="Shape 13"/>
          <p:cNvSpPr/>
          <p:nvPr/>
        </p:nvSpPr>
        <p:spPr>
          <a:xfrm>
            <a:off x="5943600" y="3246120"/>
            <a:ext cx="2103120" cy="329184"/>
          </a:xfrm>
          <a:prstGeom prst="roundRect">
            <a:avLst>
              <a:gd name="adj" fmla="val 19444"/>
            </a:avLst>
          </a:prstGeom>
          <a:solidFill>
            <a:srgbClr val="DDE8F7"/>
          </a:solidFill>
          <a:ln w="6350">
            <a:solidFill>
              <a:srgbClr val="DDE8F7"/>
            </a:solidFill>
            <a:prstDash val="solid"/>
          </a:ln>
        </p:spPr>
      </p:sp>
      <p:sp>
        <p:nvSpPr>
          <p:cNvPr id="16" name="Text 14"/>
          <p:cNvSpPr txBox="1"/>
          <p:nvPr/>
        </p:nvSpPr>
        <p:spPr>
          <a:xfrm>
            <a:off x="5943600" y="3246120"/>
            <a:ext cx="2103120" cy="329184"/>
          </a:xfrm>
          <a:prstGeom prst="rect">
            <a:avLst/>
          </a:prstGeom>
          <a:noFill/>
          <a:ln/>
        </p:spPr>
        <p:txBody>
          <a:bodyPr wrap="square" lIns="0" tIns="0" rIns="0" bIns="0" rtlCol="0" anchor="ctr"/>
          <a:lstStyle/>
          <a:p>
            <a:pPr algn="ctr" indent="0" marL="0">
              <a:buNone/>
            </a:pPr>
            <a:r>
              <a:rPr lang="en-US" sz="1200" b="1" dirty="0">
                <a:solidFill>
                  <a:srgbClr val="1F4C8F"/>
                </a:solidFill>
              </a:rPr>
              <a:t>Quality Lead</a:t>
            </a:r>
            <a:endParaRPr lang="en-US" sz="1200" dirty="0"/>
          </a:p>
        </p:txBody>
      </p:sp>
      <p:sp>
        <p:nvSpPr>
          <p:cNvPr id="17" name="Shape 15"/>
          <p:cNvSpPr/>
          <p:nvPr/>
        </p:nvSpPr>
        <p:spPr>
          <a:xfrm>
            <a:off x="274320" y="3749040"/>
            <a:ext cx="2011680" cy="329184"/>
          </a:xfrm>
          <a:prstGeom prst="roundRect">
            <a:avLst>
              <a:gd name="adj" fmla="val 19444"/>
            </a:avLst>
          </a:prstGeom>
          <a:solidFill>
            <a:srgbClr val="DDE8F7"/>
          </a:solidFill>
          <a:ln w="6350">
            <a:solidFill>
              <a:srgbClr val="DDE8F7"/>
            </a:solidFill>
            <a:prstDash val="solid"/>
          </a:ln>
        </p:spPr>
      </p:sp>
      <p:sp>
        <p:nvSpPr>
          <p:cNvPr id="18" name="Text 16"/>
          <p:cNvSpPr txBox="1"/>
          <p:nvPr/>
        </p:nvSpPr>
        <p:spPr>
          <a:xfrm>
            <a:off x="274320" y="3749040"/>
            <a:ext cx="2011680" cy="329184"/>
          </a:xfrm>
          <a:prstGeom prst="rect">
            <a:avLst/>
          </a:prstGeom>
          <a:noFill/>
          <a:ln/>
        </p:spPr>
        <p:txBody>
          <a:bodyPr wrap="square" lIns="0" tIns="0" rIns="0" bIns="0" rtlCol="0" anchor="ctr"/>
          <a:lstStyle/>
          <a:p>
            <a:pPr algn="ctr" indent="0" marL="0">
              <a:buNone/>
            </a:pPr>
            <a:r>
              <a:rPr lang="en-US" sz="1200" b="1" dirty="0">
                <a:solidFill>
                  <a:srgbClr val="1F4C8F"/>
                </a:solidFill>
              </a:rPr>
              <a:t>Contractor Manager</a:t>
            </a:r>
            <a:endParaRPr lang="en-US" sz="1200" dirty="0"/>
          </a:p>
        </p:txBody>
      </p:sp>
      <p:sp>
        <p:nvSpPr>
          <p:cNvPr id="19" name="Shape 17"/>
          <p:cNvSpPr/>
          <p:nvPr/>
        </p:nvSpPr>
        <p:spPr>
          <a:xfrm>
            <a:off x="2377440" y="3749040"/>
            <a:ext cx="2011680" cy="329184"/>
          </a:xfrm>
          <a:prstGeom prst="roundRect">
            <a:avLst>
              <a:gd name="adj" fmla="val 19444"/>
            </a:avLst>
          </a:prstGeom>
          <a:solidFill>
            <a:srgbClr val="FBECCD"/>
          </a:solidFill>
          <a:ln w="6350">
            <a:solidFill>
              <a:srgbClr val="FBECCD"/>
            </a:solidFill>
            <a:prstDash val="solid"/>
          </a:ln>
        </p:spPr>
      </p:sp>
      <p:sp>
        <p:nvSpPr>
          <p:cNvPr id="20" name="Text 18"/>
          <p:cNvSpPr txBox="1"/>
          <p:nvPr/>
        </p:nvSpPr>
        <p:spPr>
          <a:xfrm>
            <a:off x="2377440" y="3749040"/>
            <a:ext cx="2011680" cy="329184"/>
          </a:xfrm>
          <a:prstGeom prst="rect">
            <a:avLst/>
          </a:prstGeom>
          <a:noFill/>
          <a:ln/>
        </p:spPr>
        <p:txBody>
          <a:bodyPr wrap="square" lIns="0" tIns="0" rIns="0" bIns="0" rtlCol="0" anchor="ctr"/>
          <a:lstStyle/>
          <a:p>
            <a:pPr algn="ctr" indent="0" marL="0">
              <a:buNone/>
            </a:pPr>
            <a:r>
              <a:rPr lang="en-US" sz="1200" b="1" dirty="0">
                <a:solidFill>
                  <a:srgbClr val="8A5200"/>
                </a:solidFill>
              </a:rPr>
              <a:t>Execution Engineer</a:t>
            </a:r>
            <a:endParaRPr lang="en-US" sz="1200" dirty="0"/>
          </a:p>
        </p:txBody>
      </p:sp>
      <p:sp>
        <p:nvSpPr>
          <p:cNvPr id="21" name="Shape 19"/>
          <p:cNvSpPr/>
          <p:nvPr/>
        </p:nvSpPr>
        <p:spPr>
          <a:xfrm>
            <a:off x="5943600" y="3749040"/>
            <a:ext cx="2103120" cy="329184"/>
          </a:xfrm>
          <a:prstGeom prst="roundRect">
            <a:avLst>
              <a:gd name="adj" fmla="val 19444"/>
            </a:avLst>
          </a:prstGeom>
          <a:solidFill>
            <a:srgbClr val="FBECCD"/>
          </a:solidFill>
          <a:ln w="6350">
            <a:solidFill>
              <a:srgbClr val="FBECCD"/>
            </a:solidFill>
            <a:prstDash val="solid"/>
          </a:ln>
        </p:spPr>
      </p:sp>
      <p:sp>
        <p:nvSpPr>
          <p:cNvPr id="22" name="Text 20"/>
          <p:cNvSpPr txBox="1"/>
          <p:nvPr/>
        </p:nvSpPr>
        <p:spPr>
          <a:xfrm>
            <a:off x="5943600" y="3749040"/>
            <a:ext cx="2103120" cy="329184"/>
          </a:xfrm>
          <a:prstGeom prst="rect">
            <a:avLst/>
          </a:prstGeom>
          <a:noFill/>
          <a:ln/>
        </p:spPr>
        <p:txBody>
          <a:bodyPr wrap="square" lIns="0" tIns="0" rIns="0" bIns="0" rtlCol="0" anchor="ctr"/>
          <a:lstStyle/>
          <a:p>
            <a:pPr algn="ctr" indent="0" marL="0">
              <a:buNone/>
            </a:pPr>
            <a:r>
              <a:rPr lang="en-US" sz="1200" b="1" dirty="0">
                <a:solidFill>
                  <a:srgbClr val="8A5200"/>
                </a:solidFill>
              </a:rPr>
              <a:t>Quality Inspector</a:t>
            </a:r>
            <a:endParaRPr lang="en-US" sz="1200" dirty="0"/>
          </a:p>
        </p:txBody>
      </p:sp>
      <p:sp>
        <p:nvSpPr>
          <p:cNvPr id="23" name="Shape 21"/>
          <p:cNvSpPr/>
          <p:nvPr/>
        </p:nvSpPr>
        <p:spPr>
          <a:xfrm>
            <a:off x="274320" y="4206240"/>
            <a:ext cx="2011680" cy="329184"/>
          </a:xfrm>
          <a:prstGeom prst="roundRect">
            <a:avLst>
              <a:gd name="adj" fmla="val 19444"/>
            </a:avLst>
          </a:prstGeom>
          <a:solidFill>
            <a:srgbClr val="FBECCD"/>
          </a:solidFill>
          <a:ln w="6350">
            <a:solidFill>
              <a:srgbClr val="FBECCD"/>
            </a:solidFill>
            <a:prstDash val="solid"/>
          </a:ln>
        </p:spPr>
      </p:sp>
      <p:sp>
        <p:nvSpPr>
          <p:cNvPr id="24" name="Text 22"/>
          <p:cNvSpPr txBox="1"/>
          <p:nvPr/>
        </p:nvSpPr>
        <p:spPr>
          <a:xfrm>
            <a:off x="274320" y="4206240"/>
            <a:ext cx="2011680" cy="329184"/>
          </a:xfrm>
          <a:prstGeom prst="rect">
            <a:avLst/>
          </a:prstGeom>
          <a:noFill/>
          <a:ln/>
        </p:spPr>
        <p:txBody>
          <a:bodyPr wrap="square" lIns="0" tIns="0" rIns="0" bIns="0" rtlCol="0" anchor="ctr"/>
          <a:lstStyle/>
          <a:p>
            <a:pPr algn="ctr" indent="0" marL="0">
              <a:buNone/>
            </a:pPr>
            <a:r>
              <a:rPr lang="en-US" sz="1200" b="1" dirty="0">
                <a:solidFill>
                  <a:srgbClr val="8A5200"/>
                </a:solidFill>
              </a:rPr>
              <a:t>Contractor Incharge</a:t>
            </a:r>
            <a:endParaRPr lang="en-US" sz="1200" dirty="0"/>
          </a:p>
        </p:txBody>
      </p:sp>
      <p:sp>
        <p:nvSpPr>
          <p:cNvPr id="25" name="Shape 23"/>
          <p:cNvSpPr/>
          <p:nvPr/>
        </p:nvSpPr>
        <p:spPr>
          <a:xfrm>
            <a:off x="4572000" y="1380744"/>
            <a:ext cx="0" cy="82296"/>
          </a:xfrm>
          <a:prstGeom prst="line">
            <a:avLst/>
          </a:prstGeom>
          <a:noFill/>
          <a:ln w="12700">
            <a:solidFill>
              <a:srgbClr val="586661"/>
            </a:solidFill>
            <a:prstDash val="solid"/>
          </a:ln>
        </p:spPr>
      </p:sp>
      <p:sp>
        <p:nvSpPr>
          <p:cNvPr id="26" name="Text 24"/>
          <p:cNvSpPr txBox="1"/>
          <p:nvPr/>
        </p:nvSpPr>
        <p:spPr>
          <a:xfrm>
            <a:off x="457200" y="1097280"/>
            <a:ext cx="2834640" cy="457200"/>
          </a:xfrm>
          <a:prstGeom prst="rect">
            <a:avLst/>
          </a:prstGeom>
          <a:noFill/>
          <a:ln/>
        </p:spPr>
        <p:txBody>
          <a:bodyPr wrap="square" lIns="0" tIns="0" rIns="0" bIns="0" rtlCol="0" anchor="ctr"/>
          <a:lstStyle/>
          <a:p>
            <a:pPr indent="0" marL="0">
              <a:buNone/>
            </a:pPr>
            <a:r>
              <a:rPr lang="en-US" sz="1200" i="1" dirty="0">
                <a:solidFill>
                  <a:srgbClr val="586661"/>
                </a:solidFill>
              </a:rPr>
              <a:t>each tier is assigned by the one above</a:t>
            </a:r>
            <a:endParaRPr lang="en-US" sz="1200" dirty="0"/>
          </a:p>
        </p:txBody>
      </p:sp>
      <p:sp>
        <p:nvSpPr>
          <p:cNvPr id="27" name="Text 25"/>
          <p:cNvSpPr txBox="1"/>
          <p:nvPr/>
        </p:nvSpPr>
        <p:spPr>
          <a:xfrm>
            <a:off x="457200" y="2011680"/>
            <a:ext cx="2834640" cy="914400"/>
          </a:xfrm>
          <a:prstGeom prst="rect">
            <a:avLst/>
          </a:prstGeom>
          <a:noFill/>
          <a:ln/>
        </p:spPr>
        <p:txBody>
          <a:bodyPr wrap="square" lIns="0" tIns="0" rIns="0" bIns="0" rtlCol="0" anchor="ctr"/>
          <a:lstStyle/>
          <a:p>
            <a:pPr indent="0" marL="0">
              <a:buNone/>
            </a:pPr>
            <a:r>
              <a:rPr lang="en-US" sz="1200" dirty="0">
                <a:solidFill>
                  <a:srgbClr val="586661"/>
                </a:solidFill>
              </a:rPr>
              <a:t>PM assigns EL and QL. EL assigns CM and EE. QL assigns QI. CM assigns CI.</a:t>
            </a:r>
            <a:endParaRPr lang="en-US" sz="1200" dirty="0"/>
          </a:p>
        </p:txBody>
      </p:sp>
      <p:sp>
        <p:nvSpPr>
          <p:cNvPr id="28" name="Shape 26"/>
          <p:cNvSpPr/>
          <p:nvPr/>
        </p:nvSpPr>
        <p:spPr>
          <a:xfrm>
            <a:off x="6492240" y="1097280"/>
            <a:ext cx="2194560" cy="292608"/>
          </a:xfrm>
          <a:prstGeom prst="roundRect">
            <a:avLst>
              <a:gd name="adj" fmla="val 21875"/>
            </a:avLst>
          </a:prstGeom>
          <a:solidFill>
            <a:srgbClr val="DDE8F7"/>
          </a:solidFill>
          <a:ln w="6350">
            <a:solidFill>
              <a:srgbClr val="DDE8F7"/>
            </a:solidFill>
            <a:prstDash val="solid"/>
          </a:ln>
        </p:spPr>
      </p:sp>
      <p:sp>
        <p:nvSpPr>
          <p:cNvPr id="29" name="Text 27"/>
          <p:cNvSpPr txBox="1"/>
          <p:nvPr/>
        </p:nvSpPr>
        <p:spPr>
          <a:xfrm>
            <a:off x="6492240" y="1097280"/>
            <a:ext cx="2194560" cy="292608"/>
          </a:xfrm>
          <a:prstGeom prst="rect">
            <a:avLst/>
          </a:prstGeom>
          <a:noFill/>
          <a:ln/>
        </p:spPr>
        <p:txBody>
          <a:bodyPr wrap="square" lIns="0" tIns="0" rIns="0" bIns="0" rtlCol="0" anchor="ctr"/>
          <a:lstStyle/>
          <a:p>
            <a:pPr algn="ctr" indent="0" marL="0">
              <a:buNone/>
            </a:pPr>
            <a:r>
              <a:rPr lang="en-US" sz="1100" b="1" dirty="0">
                <a:solidFill>
                  <a:srgbClr val="1F4C8F"/>
                </a:solidFill>
              </a:rPr>
              <a:t>Online: seconds to log in</a:t>
            </a:r>
            <a:endParaRPr lang="en-US" sz="1100" dirty="0"/>
          </a:p>
        </p:txBody>
      </p:sp>
      <p:sp>
        <p:nvSpPr>
          <p:cNvPr id="30" name="Shape 28"/>
          <p:cNvSpPr/>
          <p:nvPr/>
        </p:nvSpPr>
        <p:spPr>
          <a:xfrm>
            <a:off x="6492240" y="1463040"/>
            <a:ext cx="2194560" cy="292608"/>
          </a:xfrm>
          <a:prstGeom prst="roundRect">
            <a:avLst>
              <a:gd name="adj" fmla="val 21875"/>
            </a:avLst>
          </a:prstGeom>
          <a:solidFill>
            <a:srgbClr val="FBECCD"/>
          </a:solidFill>
          <a:ln w="6350">
            <a:solidFill>
              <a:srgbClr val="FBECCD"/>
            </a:solidFill>
            <a:prstDash val="solid"/>
          </a:ln>
        </p:spPr>
      </p:sp>
      <p:sp>
        <p:nvSpPr>
          <p:cNvPr id="31" name="Text 29"/>
          <p:cNvSpPr txBox="1"/>
          <p:nvPr/>
        </p:nvSpPr>
        <p:spPr>
          <a:xfrm>
            <a:off x="6492240" y="1463040"/>
            <a:ext cx="2194560" cy="292608"/>
          </a:xfrm>
          <a:prstGeom prst="rect">
            <a:avLst/>
          </a:prstGeom>
          <a:noFill/>
          <a:ln/>
        </p:spPr>
        <p:txBody>
          <a:bodyPr wrap="square" lIns="0" tIns="0" rIns="0" bIns="0" rtlCol="0" anchor="ctr"/>
          <a:lstStyle/>
          <a:p>
            <a:pPr algn="ctr" indent="0" marL="0">
              <a:buNone/>
            </a:pPr>
            <a:r>
              <a:rPr lang="en-US" sz="1100" b="1" dirty="0">
                <a:solidFill>
                  <a:srgbClr val="8A5200"/>
                </a:solidFill>
              </a:rPr>
              <a:t>Offline PWA: minutes first load</a:t>
            </a:r>
            <a:endParaRPr lang="en-US" sz="1100" dirty="0"/>
          </a:p>
        </p:txBody>
      </p:sp>
      <p:sp>
        <p:nvSpPr>
          <p:cNvPr id="32" name="Text 30"/>
          <p:cNvSpPr txBox="1"/>
          <p:nvPr/>
        </p:nvSpPr>
        <p:spPr>
          <a:xfrm>
            <a:off x="6492240" y="1920240"/>
            <a:ext cx="2194560" cy="640080"/>
          </a:xfrm>
          <a:prstGeom prst="rect">
            <a:avLst/>
          </a:prstGeom>
          <a:noFill/>
          <a:ln/>
        </p:spPr>
        <p:txBody>
          <a:bodyPr wrap="square" lIns="0" tIns="0" rIns="0" bIns="0" rtlCol="0" anchor="ctr"/>
          <a:lstStyle/>
          <a:p>
            <a:pPr indent="0" marL="0">
              <a:buNone/>
            </a:pPr>
            <a:r>
              <a:rPr lang="en-US" sz="1200" dirty="0">
                <a:solidFill>
                  <a:srgbClr val="586661"/>
                </a:solidFill>
              </a:rPr>
              <a:t>Management User is view-only and sits outside WAM.</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86661"/>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B3D36"/>
                </a:solidFill>
                <a:latin typeface="Cambria" pitchFamily="34" charset="0"/>
                <a:ea typeface="Cambria" pitchFamily="34" charset="-122"/>
                <a:cs typeface="Cambria" pitchFamily="34" charset="-120"/>
              </a:rPr>
              <a:t>What each tier may assign in WAM</a:t>
            </a:r>
            <a:endParaRPr lang="en-US" sz="3000" dirty="0"/>
          </a:p>
        </p:txBody>
      </p:sp>
      <p:graphicFrame>
        <p:nvGraphicFramePr>
          <p:cNvPr id="5" name="assign table"/>
          <p:cNvGraphicFramePr>
            <a:graphicFrameLocks noGrp="1"/>
          </p:cNvGraphicFramePr>
          <p:nvPr>
            <p:extLst>
              <p:ext uri="{D42A27DB-BD31-4B8C-83A1-F6EECF244321}">
                <p14:modId xmlns:p14="http://schemas.microsoft.com/office/powerpoint/2010/main" val="1579011935"/>
              </p:ext>
            </p:extLst>
          </p:nvPr>
        </p:nvGraphicFramePr>
        <p:xfrm>
          <a:off x="457200" y="1051560"/>
          <a:ext cx="5120640" cy="914400"/>
        </p:xfrm>
        <a:graphic>
          <a:graphicData uri="http://schemas.openxmlformats.org/drawingml/2006/table">
            <a:tbl>
              <a:tblPr/>
              <a:tblGrid>
                <a:gridCol w="1463040"/>
                <a:gridCol w="3108960"/>
                <a:gridCol w="548640"/>
              </a:tblGrid>
              <a:tr h="310896">
                <a:tc>
                  <a:txBody>
                    <a:bodyPr/>
                    <a:lstStyle/>
                    <a:p>
                      <a:pPr indent="0" marL="0">
                        <a:buNone/>
                      </a:pPr>
                      <a:r>
                        <a:rPr lang="en-US" sz="1200" b="1" dirty="0">
                          <a:solidFill>
                            <a:srgbClr val="FFFFFF"/>
                          </a:solidFill>
                        </a:rPr>
                        <a:t>Logged in as</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solidFill>
                      <a:srgbClr val="0B3D36"/>
                    </a:solidFill>
                  </a:tcPr>
                </a:tc>
                <a:tc>
                  <a:txBody>
                    <a:bodyPr/>
                    <a:lstStyle/>
                    <a:p>
                      <a:pPr indent="0" marL="0">
                        <a:buNone/>
                      </a:pPr>
                      <a:r>
                        <a:rPr lang="en-US" sz="1200" b="1" dirty="0">
                          <a:solidFill>
                            <a:srgbClr val="FFFFFF"/>
                          </a:solidFill>
                        </a:rPr>
                        <a:t>May assign</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solidFill>
                      <a:srgbClr val="0B3D36"/>
                    </a:solidFill>
                  </a:tcPr>
                </a:tc>
                <a:tc>
                  <a:txBody>
                    <a:bodyPr/>
                    <a:lstStyle/>
                    <a:p>
                      <a:pPr indent="0" marL="0">
                        <a:buNone/>
                      </a:pPr>
                      <a:r>
                        <a:rPr lang="en-US" sz="1200" b="1" dirty="0">
                          <a:solidFill>
                            <a:srgbClr val="FFFFFF"/>
                          </a:solidFill>
                        </a:rPr>
                        <a:t>Roles</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solidFill>
                      <a:srgbClr val="0B3D36"/>
                    </a:solidFill>
                  </a:tcPr>
                </a:tc>
              </a:tr>
              <a:tr h="310896">
                <a:tc>
                  <a:txBody>
                    <a:bodyPr/>
                    <a:lstStyle/>
                    <a:p>
                      <a:pPr indent="0" marL="0">
                        <a:buNone/>
                      </a:pPr>
                      <a:r>
                        <a:rPr lang="en-US" sz="1200" b="1" dirty="0">
                          <a:solidFill>
                            <a:srgbClr val="000000"/>
                          </a:solidFill>
                        </a:rPr>
                        <a:t>Admin</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c>
                  <a:txBody>
                    <a:bodyPr/>
                    <a:lstStyle/>
                    <a:p>
                      <a:pPr indent="0" marL="0">
                        <a:buNone/>
                      </a:pPr>
                      <a:r>
                        <a:rPr lang="en-US" sz="1200" dirty="0">
                          <a:solidFill>
                            <a:srgbClr val="000000"/>
                          </a:solidFill>
                        </a:rPr>
                        <a:t>Everything</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c>
                  <a:txBody>
                    <a:bodyPr/>
                    <a:lstStyle/>
                    <a:p>
                      <a:pPr algn="ctr" indent="0" marL="0">
                        <a:buNone/>
                      </a:pPr>
                      <a:r>
                        <a:rPr lang="en-US" sz="1200" dirty="0">
                          <a:solidFill>
                            <a:srgbClr val="000000"/>
                          </a:solidFill>
                        </a:rPr>
                        <a:t>10</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r>
              <a:tr h="310896">
                <a:tc>
                  <a:txBody>
                    <a:bodyPr/>
                    <a:lstStyle/>
                    <a:p>
                      <a:pPr indent="0" marL="0">
                        <a:buNone/>
                      </a:pPr>
                      <a:r>
                        <a:rPr lang="en-US" sz="1200" b="1" dirty="0">
                          <a:solidFill>
                            <a:srgbClr val="000000"/>
                          </a:solidFill>
                        </a:rPr>
                        <a:t>Cluster Admin</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c>
                  <a:txBody>
                    <a:bodyPr/>
                    <a:lstStyle/>
                    <a:p>
                      <a:pPr indent="0" marL="0">
                        <a:buNone/>
                      </a:pPr>
                      <a:r>
                        <a:rPr lang="en-US" sz="1200" dirty="0">
                          <a:solidFill>
                            <a:srgbClr val="000000"/>
                          </a:solidFill>
                        </a:rPr>
                        <a:t>All but Cluster Admin</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c>
                  <a:txBody>
                    <a:bodyPr/>
                    <a:lstStyle/>
                    <a:p>
                      <a:pPr algn="ctr" indent="0" marL="0">
                        <a:buNone/>
                      </a:pPr>
                      <a:r>
                        <a:rPr lang="en-US" sz="1200" dirty="0">
                          <a:solidFill>
                            <a:srgbClr val="000000"/>
                          </a:solidFill>
                        </a:rPr>
                        <a:t>9</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r>
              <a:tr h="310896">
                <a:tc>
                  <a:txBody>
                    <a:bodyPr/>
                    <a:lstStyle/>
                    <a:p>
                      <a:pPr indent="0" marL="0">
                        <a:buNone/>
                      </a:pPr>
                      <a:r>
                        <a:rPr lang="en-US" sz="1200" b="1" dirty="0">
                          <a:solidFill>
                            <a:srgbClr val="000000"/>
                          </a:solidFill>
                        </a:rPr>
                        <a:t>Site Admin</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c>
                  <a:txBody>
                    <a:bodyPr/>
                    <a:lstStyle/>
                    <a:p>
                      <a:pPr indent="0" marL="0">
                        <a:buNone/>
                      </a:pPr>
                      <a:r>
                        <a:rPr lang="en-US" sz="1200" dirty="0">
                          <a:solidFill>
                            <a:srgbClr val="000000"/>
                          </a:solidFill>
                        </a:rPr>
                        <a:t>All but Site and Cluster Admin</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c>
                  <a:txBody>
                    <a:bodyPr/>
                    <a:lstStyle/>
                    <a:p>
                      <a:pPr algn="ctr" indent="0" marL="0">
                        <a:buNone/>
                      </a:pPr>
                      <a:r>
                        <a:rPr lang="en-US" sz="1200" dirty="0">
                          <a:solidFill>
                            <a:srgbClr val="000000"/>
                          </a:solidFill>
                        </a:rPr>
                        <a:t>8</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r>
              <a:tr h="310896">
                <a:tc>
                  <a:txBody>
                    <a:bodyPr/>
                    <a:lstStyle/>
                    <a:p>
                      <a:pPr indent="0" marL="0">
                        <a:buNone/>
                      </a:pPr>
                      <a:r>
                        <a:rPr lang="en-US" sz="1200" b="1" dirty="0">
                          <a:solidFill>
                            <a:srgbClr val="000000"/>
                          </a:solidFill>
                        </a:rPr>
                        <a:t>Plot Admin</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c>
                  <a:txBody>
                    <a:bodyPr/>
                    <a:lstStyle/>
                    <a:p>
                      <a:pPr indent="0" marL="0">
                        <a:buNone/>
                      </a:pPr>
                      <a:r>
                        <a:rPr lang="en-US" sz="1200" dirty="0">
                          <a:solidFill>
                            <a:srgbClr val="000000"/>
                          </a:solidFill>
                        </a:rPr>
                        <a:t>All but Plot, Site and Cluster Admin</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c>
                  <a:txBody>
                    <a:bodyPr/>
                    <a:lstStyle/>
                    <a:p>
                      <a:pPr algn="ctr" indent="0" marL="0">
                        <a:buNone/>
                      </a:pPr>
                      <a:r>
                        <a:rPr lang="en-US" sz="1200" dirty="0">
                          <a:solidFill>
                            <a:srgbClr val="000000"/>
                          </a:solidFill>
                        </a:rPr>
                        <a:t>7</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r>
              <a:tr h="310896">
                <a:tc>
                  <a:txBody>
                    <a:bodyPr/>
                    <a:lstStyle/>
                    <a:p>
                      <a:pPr indent="0" marL="0">
                        <a:buNone/>
                      </a:pPr>
                      <a:r>
                        <a:rPr lang="en-US" sz="1200" b="1" dirty="0">
                          <a:solidFill>
                            <a:srgbClr val="000000"/>
                          </a:solidFill>
                        </a:rPr>
                        <a:t>Project Manager</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c>
                  <a:txBody>
                    <a:bodyPr/>
                    <a:lstStyle/>
                    <a:p>
                      <a:pPr indent="0" marL="0">
                        <a:buNone/>
                      </a:pPr>
                      <a:r>
                        <a:rPr lang="en-US" sz="1200" dirty="0">
                          <a:solidFill>
                            <a:srgbClr val="000000"/>
                          </a:solidFill>
                        </a:rPr>
                        <a:t>Execution Lead, Quality Lead</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c>
                  <a:txBody>
                    <a:bodyPr/>
                    <a:lstStyle/>
                    <a:p>
                      <a:pPr algn="ctr" indent="0" marL="0">
                        <a:buNone/>
                      </a:pPr>
                      <a:r>
                        <a:rPr lang="en-US" sz="1200" dirty="0">
                          <a:solidFill>
                            <a:srgbClr val="000000"/>
                          </a:solidFill>
                        </a:rPr>
                        <a:t>2</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r>
              <a:tr h="310896">
                <a:tc>
                  <a:txBody>
                    <a:bodyPr/>
                    <a:lstStyle/>
                    <a:p>
                      <a:pPr indent="0" marL="0">
                        <a:buNone/>
                      </a:pPr>
                      <a:r>
                        <a:rPr lang="en-US" sz="1200" b="1" dirty="0">
                          <a:solidFill>
                            <a:srgbClr val="000000"/>
                          </a:solidFill>
                        </a:rPr>
                        <a:t>Execution Lead</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c>
                  <a:txBody>
                    <a:bodyPr/>
                    <a:lstStyle/>
                    <a:p>
                      <a:pPr indent="0" marL="0">
                        <a:buNone/>
                      </a:pPr>
                      <a:r>
                        <a:rPr lang="en-US" sz="1200" dirty="0">
                          <a:solidFill>
                            <a:srgbClr val="000000"/>
                          </a:solidFill>
                        </a:rPr>
                        <a:t>Contractor Manager, Execution Engineer</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c>
                  <a:txBody>
                    <a:bodyPr/>
                    <a:lstStyle/>
                    <a:p>
                      <a:pPr algn="ctr" indent="0" marL="0">
                        <a:buNone/>
                      </a:pPr>
                      <a:r>
                        <a:rPr lang="en-US" sz="1200" dirty="0">
                          <a:solidFill>
                            <a:srgbClr val="000000"/>
                          </a:solidFill>
                        </a:rPr>
                        <a:t>2</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r>
              <a:tr h="310896">
                <a:tc>
                  <a:txBody>
                    <a:bodyPr/>
                    <a:lstStyle/>
                    <a:p>
                      <a:pPr indent="0" marL="0">
                        <a:buNone/>
                      </a:pPr>
                      <a:r>
                        <a:rPr lang="en-US" sz="1200" b="1" dirty="0">
                          <a:solidFill>
                            <a:srgbClr val="000000"/>
                          </a:solidFill>
                        </a:rPr>
                        <a:t>Quality Lead</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c>
                  <a:txBody>
                    <a:bodyPr/>
                    <a:lstStyle/>
                    <a:p>
                      <a:pPr indent="0" marL="0">
                        <a:buNone/>
                      </a:pPr>
                      <a:r>
                        <a:rPr lang="en-US" sz="1200" dirty="0">
                          <a:solidFill>
                            <a:srgbClr val="000000"/>
                          </a:solidFill>
                        </a:rPr>
                        <a:t>Quality Inspector</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c>
                  <a:txBody>
                    <a:bodyPr/>
                    <a:lstStyle/>
                    <a:p>
                      <a:pPr algn="ctr" indent="0" marL="0">
                        <a:buNone/>
                      </a:pPr>
                      <a:r>
                        <a:rPr lang="en-US" sz="1200" dirty="0">
                          <a:solidFill>
                            <a:srgbClr val="000000"/>
                          </a:solidFill>
                        </a:rPr>
                        <a:t>1</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r>
              <a:tr h="310896">
                <a:tc>
                  <a:txBody>
                    <a:bodyPr/>
                    <a:lstStyle/>
                    <a:p>
                      <a:pPr indent="0" marL="0">
                        <a:buNone/>
                      </a:pPr>
                      <a:r>
                        <a:rPr lang="en-US" sz="1200" b="1" dirty="0">
                          <a:solidFill>
                            <a:srgbClr val="000000"/>
                          </a:solidFill>
                        </a:rPr>
                        <a:t>Contractor Manager</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c>
                  <a:txBody>
                    <a:bodyPr/>
                    <a:lstStyle/>
                    <a:p>
                      <a:pPr indent="0" marL="0">
                        <a:buNone/>
                      </a:pPr>
                      <a:r>
                        <a:rPr lang="en-US" sz="1200" dirty="0">
                          <a:solidFill>
                            <a:srgbClr val="000000"/>
                          </a:solidFill>
                        </a:rPr>
                        <a:t>Contractor Incharge</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c>
                  <a:txBody>
                    <a:bodyPr/>
                    <a:lstStyle/>
                    <a:p>
                      <a:pPr algn="ctr" indent="0" marL="0">
                        <a:buNone/>
                      </a:pPr>
                      <a:r>
                        <a:rPr lang="en-US" sz="1200" dirty="0">
                          <a:solidFill>
                            <a:srgbClr val="000000"/>
                          </a:solidFill>
                        </a:rPr>
                        <a:t>1</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r>
            </a:tbl>
          </a:graphicData>
        </a:graphic>
      </p:graphicFrame>
      <p:sp>
        <p:nvSpPr>
          <p:cNvPr id="4" name="card Rule of thumb"/>
          <p:cNvSpPr/>
          <p:nvPr/>
        </p:nvSpPr>
        <p:spPr>
          <a:xfrm>
            <a:off x="5806440" y="1051560"/>
            <a:ext cx="2880360" cy="1508760"/>
          </a:xfrm>
          <a:prstGeom prst="roundRect">
            <a:avLst>
              <a:gd name="adj" fmla="val 4848"/>
            </a:avLst>
          </a:prstGeom>
          <a:solidFill>
            <a:srgbClr val="EEF3F0"/>
          </a:solidFill>
          <a:ln w="9525">
            <a:solidFill>
              <a:srgbClr val="D3DAD5"/>
            </a:solidFill>
            <a:prstDash val="solid"/>
          </a:ln>
        </p:spPr>
      </p:sp>
      <p:sp>
        <p:nvSpPr>
          <p:cNvPr id="5" name="Text 2"/>
          <p:cNvSpPr txBox="1"/>
          <p:nvPr/>
        </p:nvSpPr>
        <p:spPr>
          <a:xfrm>
            <a:off x="5971032" y="1161288"/>
            <a:ext cx="2551176" cy="320040"/>
          </a:xfrm>
          <a:prstGeom prst="rect">
            <a:avLst/>
          </a:prstGeom>
          <a:noFill/>
          <a:ln/>
        </p:spPr>
        <p:txBody>
          <a:bodyPr wrap="square" lIns="0" tIns="0" rIns="0" bIns="0" rtlCol="0" anchor="t"/>
          <a:lstStyle/>
          <a:p>
            <a:pPr indent="0" marL="0">
              <a:buNone/>
            </a:pPr>
            <a:r>
              <a:rPr lang="en-US" sz="1600" b="1" dirty="0">
                <a:solidFill>
                  <a:srgbClr val="0B3D36"/>
                </a:solidFill>
                <a:latin typeface="Cambria" pitchFamily="34" charset="0"/>
                <a:ea typeface="Cambria" pitchFamily="34" charset="-122"/>
                <a:cs typeface="Cambria" pitchFamily="34" charset="-120"/>
              </a:rPr>
              <a:t>Rule of thumb</a:t>
            </a:r>
            <a:endParaRPr lang="en-US" sz="1600" dirty="0"/>
          </a:p>
        </p:txBody>
      </p:sp>
      <p:sp>
        <p:nvSpPr>
          <p:cNvPr id="6" name="Text 3"/>
          <p:cNvSpPr txBox="1"/>
          <p:nvPr/>
        </p:nvSpPr>
        <p:spPr>
          <a:xfrm>
            <a:off x="5971032" y="1527048"/>
            <a:ext cx="2551176" cy="941832"/>
          </a:xfrm>
          <a:prstGeom prst="rect">
            <a:avLst/>
          </a:prstGeom>
          <a:noFill/>
          <a:ln/>
        </p:spPr>
        <p:txBody>
          <a:bodyPr wrap="square" lIns="0" tIns="0" rIns="0" bIns="0" rtlCol="0" anchor="t"/>
          <a:lstStyle/>
          <a:p>
            <a:pPr indent="0" marL="0">
              <a:spcAft>
                <a:spcPts val="400"/>
              </a:spcAft>
              <a:buNone/>
            </a:pPr>
            <a:r>
              <a:rPr lang="en-US" sz="1300" dirty="0">
                <a:solidFill>
                  <a:srgbClr val="16201D"/>
                </a:solidFill>
              </a:rPr>
              <a:t>Admin tiers assign every role below them. From Project Manager down, only the next tier.</a:t>
            </a:r>
            <a:endParaRPr lang="en-US" sz="1300" dirty="0"/>
          </a:p>
        </p:txBody>
      </p:sp>
      <p:sp>
        <p:nvSpPr>
          <p:cNvPr id="7" name="card Single-assignee rows"/>
          <p:cNvSpPr/>
          <p:nvPr/>
        </p:nvSpPr>
        <p:spPr>
          <a:xfrm>
            <a:off x="5806440" y="2697480"/>
            <a:ext cx="2880360" cy="1371600"/>
          </a:xfrm>
          <a:prstGeom prst="roundRect">
            <a:avLst>
              <a:gd name="adj" fmla="val 5333"/>
            </a:avLst>
          </a:prstGeom>
          <a:solidFill>
            <a:srgbClr val="FBECCD"/>
          </a:solidFill>
          <a:ln w="9525">
            <a:solidFill>
              <a:srgbClr val="E8C98A"/>
            </a:solidFill>
            <a:prstDash val="solid"/>
          </a:ln>
        </p:spPr>
      </p:sp>
      <p:sp>
        <p:nvSpPr>
          <p:cNvPr id="8" name="Text 5"/>
          <p:cNvSpPr txBox="1"/>
          <p:nvPr/>
        </p:nvSpPr>
        <p:spPr>
          <a:xfrm>
            <a:off x="5971032" y="2807208"/>
            <a:ext cx="2551176" cy="320040"/>
          </a:xfrm>
          <a:prstGeom prst="rect">
            <a:avLst/>
          </a:prstGeom>
          <a:noFill/>
          <a:ln/>
        </p:spPr>
        <p:txBody>
          <a:bodyPr wrap="square" lIns="0" tIns="0" rIns="0" bIns="0" rtlCol="0" anchor="t"/>
          <a:lstStyle/>
          <a:p>
            <a:pPr indent="0" marL="0">
              <a:buNone/>
            </a:pPr>
            <a:r>
              <a:rPr lang="en-US" sz="1600" b="1" dirty="0">
                <a:solidFill>
                  <a:srgbClr val="8A5200"/>
                </a:solidFill>
                <a:latin typeface="Cambria" pitchFamily="34" charset="0"/>
                <a:ea typeface="Cambria" pitchFamily="34" charset="-122"/>
                <a:cs typeface="Cambria" pitchFamily="34" charset="-120"/>
              </a:rPr>
              <a:t>Single-assignee rows</a:t>
            </a:r>
            <a:endParaRPr lang="en-US" sz="1600" dirty="0"/>
          </a:p>
        </p:txBody>
      </p:sp>
      <p:sp>
        <p:nvSpPr>
          <p:cNvPr id="9" name="Text 6"/>
          <p:cNvSpPr txBox="1"/>
          <p:nvPr/>
        </p:nvSpPr>
        <p:spPr>
          <a:xfrm>
            <a:off x="5971032" y="3172968"/>
            <a:ext cx="2551176" cy="804672"/>
          </a:xfrm>
          <a:prstGeom prst="rect">
            <a:avLst/>
          </a:prstGeom>
          <a:noFill/>
          <a:ln/>
        </p:spPr>
        <p:txBody>
          <a:bodyPr wrap="square" lIns="0" tIns="0" rIns="0" bIns="0" rtlCol="0" anchor="t"/>
          <a:lstStyle/>
          <a:p>
            <a:pPr indent="0" marL="0">
              <a:spcAft>
                <a:spcPts val="400"/>
              </a:spcAft>
              <a:buNone/>
            </a:pPr>
            <a:r>
              <a:rPr lang="en-US" sz="1300" dirty="0">
                <a:solidFill>
                  <a:srgbClr val="16201D"/>
                </a:solidFill>
              </a:rPr>
              <a:t>CI, QI and EE rows hold one person. A new assignment replaces the old one.</a:t>
            </a:r>
            <a:endParaRPr lang="en-US" sz="13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86661"/>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B3D36"/>
                </a:solidFill>
                <a:latin typeface="Cambria" pitchFamily="34" charset="0"/>
                <a:ea typeface="Cambria" pitchFamily="34" charset="-122"/>
                <a:cs typeface="Cambria" pitchFamily="34" charset="-120"/>
              </a:rPr>
              <a:t>RFI: the contractor asks, two reviewers decide</a:t>
            </a:r>
            <a:endParaRPr lang="en-US" sz="3000" dirty="0"/>
          </a:p>
        </p:txBody>
      </p:sp>
      <p:sp>
        <p:nvSpPr>
          <p:cNvPr id="3" name="Text 1"/>
          <p:cNvSpPr txBox="1"/>
          <p:nvPr/>
        </p:nvSpPr>
        <p:spPr>
          <a:xfrm>
            <a:off x="457200" y="1005840"/>
            <a:ext cx="2743200" cy="274320"/>
          </a:xfrm>
          <a:prstGeom prst="rect">
            <a:avLst/>
          </a:prstGeom>
          <a:noFill/>
          <a:ln/>
        </p:spPr>
        <p:txBody>
          <a:bodyPr wrap="square" lIns="0" tIns="0" rIns="0" bIns="0" rtlCol="0" anchor="ctr"/>
          <a:lstStyle/>
          <a:p>
            <a:pPr indent="0" marL="0">
              <a:buNone/>
            </a:pPr>
            <a:r>
              <a:rPr lang="en-US" sz="1200" b="1" dirty="0">
                <a:solidFill>
                  <a:srgbClr val="586661"/>
                </a:solidFill>
              </a:rPr>
              <a:t>Happy path</a:t>
            </a:r>
            <a:endParaRPr lang="en-US" sz="1200" dirty="0"/>
          </a:p>
        </p:txBody>
      </p:sp>
      <p:sp>
        <p:nvSpPr>
          <p:cNvPr id="4" name="Shape 2"/>
          <p:cNvSpPr/>
          <p:nvPr/>
        </p:nvSpPr>
        <p:spPr>
          <a:xfrm>
            <a:off x="457200" y="1280160"/>
            <a:ext cx="1024128" cy="566928"/>
          </a:xfrm>
          <a:prstGeom prst="roundRect">
            <a:avLst>
              <a:gd name="adj" fmla="val 11290"/>
            </a:avLst>
          </a:prstGeom>
          <a:solidFill>
            <a:srgbClr val="DDE8F7"/>
          </a:solidFill>
          <a:ln w="9525">
            <a:solidFill>
              <a:srgbClr val="1F4C8F"/>
            </a:solidFill>
            <a:prstDash val="solid"/>
          </a:ln>
        </p:spPr>
      </p:sp>
      <p:sp>
        <p:nvSpPr>
          <p:cNvPr id="5" name="Text 3"/>
          <p:cNvSpPr txBox="1"/>
          <p:nvPr/>
        </p:nvSpPr>
        <p:spPr>
          <a:xfrm>
            <a:off x="457200" y="1280160"/>
            <a:ext cx="1024128" cy="566928"/>
          </a:xfrm>
          <a:prstGeom prst="rect">
            <a:avLst/>
          </a:prstGeom>
          <a:noFill/>
          <a:ln/>
        </p:spPr>
        <p:txBody>
          <a:bodyPr wrap="square" lIns="0" tIns="0" rIns="0" bIns="0" rtlCol="0" anchor="ctr"/>
          <a:lstStyle/>
          <a:p>
            <a:pPr algn="ctr" indent="0" marL="0">
              <a:buNone/>
            </a:pPr>
            <a:r>
              <a:rPr lang="en-US" sz="1200" b="1" dirty="0">
                <a:solidFill>
                  <a:srgbClr val="1F4C8F"/>
                </a:solidFill>
              </a:rPr>
              <a:t>CI</a:t>
            </a:r>
            <a:endParaRPr lang="en-US" sz="1200" dirty="0"/>
          </a:p>
          <a:p>
            <a:pPr algn="ctr" indent="0" marL="0">
              <a:buNone/>
            </a:pPr>
            <a:r>
              <a:rPr lang="en-US" sz="1000" dirty="0">
                <a:solidFill>
                  <a:srgbClr val="1F4C8F"/>
                </a:solidFill>
              </a:rPr>
              <a:t>create + submit</a:t>
            </a:r>
            <a:endParaRPr lang="en-US" sz="1200" dirty="0"/>
          </a:p>
        </p:txBody>
      </p:sp>
      <p:sp>
        <p:nvSpPr>
          <p:cNvPr id="6" name="Text 4"/>
          <p:cNvSpPr txBox="1"/>
          <p:nvPr/>
        </p:nvSpPr>
        <p:spPr>
          <a:xfrm>
            <a:off x="1481328" y="1280160"/>
            <a:ext cx="164592" cy="566928"/>
          </a:xfrm>
          <a:prstGeom prst="rect">
            <a:avLst/>
          </a:prstGeom>
          <a:noFill/>
          <a:ln/>
        </p:spPr>
        <p:txBody>
          <a:bodyPr wrap="square" lIns="0" tIns="0" rIns="0" bIns="0" rtlCol="0" anchor="ctr"/>
          <a:lstStyle/>
          <a:p>
            <a:pPr algn="ctr" indent="0" marL="0">
              <a:buNone/>
            </a:pPr>
            <a:r>
              <a:rPr lang="en-US" sz="1600" dirty="0">
                <a:solidFill>
                  <a:srgbClr val="586661"/>
                </a:solidFill>
              </a:rPr>
              <a:t>›</a:t>
            </a:r>
            <a:endParaRPr lang="en-US" sz="1600" dirty="0"/>
          </a:p>
        </p:txBody>
      </p:sp>
      <p:sp>
        <p:nvSpPr>
          <p:cNvPr id="7" name="Shape 5"/>
          <p:cNvSpPr/>
          <p:nvPr/>
        </p:nvSpPr>
        <p:spPr>
          <a:xfrm>
            <a:off x="1645920" y="1280160"/>
            <a:ext cx="1024128" cy="566928"/>
          </a:xfrm>
          <a:prstGeom prst="roundRect">
            <a:avLst>
              <a:gd name="adj" fmla="val 11290"/>
            </a:avLst>
          </a:prstGeom>
          <a:solidFill>
            <a:srgbClr val="DDE8F7"/>
          </a:solidFill>
          <a:ln w="9525">
            <a:solidFill>
              <a:srgbClr val="1F4C8F"/>
            </a:solidFill>
            <a:prstDash val="solid"/>
          </a:ln>
        </p:spPr>
      </p:sp>
      <p:sp>
        <p:nvSpPr>
          <p:cNvPr id="8" name="Text 6"/>
          <p:cNvSpPr txBox="1"/>
          <p:nvPr/>
        </p:nvSpPr>
        <p:spPr>
          <a:xfrm>
            <a:off x="1645920" y="1280160"/>
            <a:ext cx="1024128" cy="566928"/>
          </a:xfrm>
          <a:prstGeom prst="rect">
            <a:avLst/>
          </a:prstGeom>
          <a:noFill/>
          <a:ln/>
        </p:spPr>
        <p:txBody>
          <a:bodyPr wrap="square" lIns="0" tIns="0" rIns="0" bIns="0" rtlCol="0" anchor="ctr"/>
          <a:lstStyle/>
          <a:p>
            <a:pPr algn="ctr" indent="0" marL="0">
              <a:buNone/>
            </a:pPr>
            <a:r>
              <a:rPr lang="en-US" sz="1200" b="1" dirty="0">
                <a:solidFill>
                  <a:srgbClr val="1F4C8F"/>
                </a:solidFill>
              </a:rPr>
              <a:t>EE</a:t>
            </a:r>
            <a:endParaRPr lang="en-US" sz="1200" dirty="0"/>
          </a:p>
          <a:p>
            <a:pPr algn="ctr" indent="0" marL="0">
              <a:buNone/>
            </a:pPr>
            <a:r>
              <a:rPr lang="en-US" sz="1000" dirty="0">
                <a:solidFill>
                  <a:srgbClr val="1F4C8F"/>
                </a:solidFill>
              </a:rPr>
              <a:t>first review</a:t>
            </a:r>
            <a:endParaRPr lang="en-US" sz="1200" dirty="0"/>
          </a:p>
        </p:txBody>
      </p:sp>
      <p:sp>
        <p:nvSpPr>
          <p:cNvPr id="9" name="Text 7"/>
          <p:cNvSpPr txBox="1"/>
          <p:nvPr/>
        </p:nvSpPr>
        <p:spPr>
          <a:xfrm>
            <a:off x="2670048" y="1280160"/>
            <a:ext cx="164592" cy="566928"/>
          </a:xfrm>
          <a:prstGeom prst="rect">
            <a:avLst/>
          </a:prstGeom>
          <a:noFill/>
          <a:ln/>
        </p:spPr>
        <p:txBody>
          <a:bodyPr wrap="square" lIns="0" tIns="0" rIns="0" bIns="0" rtlCol="0" anchor="ctr"/>
          <a:lstStyle/>
          <a:p>
            <a:pPr algn="ctr" indent="0" marL="0">
              <a:buNone/>
            </a:pPr>
            <a:r>
              <a:rPr lang="en-US" sz="1600" dirty="0">
                <a:solidFill>
                  <a:srgbClr val="586661"/>
                </a:solidFill>
              </a:rPr>
              <a:t>›</a:t>
            </a:r>
            <a:endParaRPr lang="en-US" sz="1600" dirty="0"/>
          </a:p>
        </p:txBody>
      </p:sp>
      <p:sp>
        <p:nvSpPr>
          <p:cNvPr id="10" name="Shape 8"/>
          <p:cNvSpPr/>
          <p:nvPr/>
        </p:nvSpPr>
        <p:spPr>
          <a:xfrm>
            <a:off x="2834640" y="1280160"/>
            <a:ext cx="1024128" cy="566928"/>
          </a:xfrm>
          <a:prstGeom prst="roundRect">
            <a:avLst>
              <a:gd name="adj" fmla="val 11290"/>
            </a:avLst>
          </a:prstGeom>
          <a:solidFill>
            <a:srgbClr val="DDE8F7"/>
          </a:solidFill>
          <a:ln w="9525">
            <a:solidFill>
              <a:srgbClr val="1F4C8F"/>
            </a:solidFill>
            <a:prstDash val="solid"/>
          </a:ln>
        </p:spPr>
      </p:sp>
      <p:sp>
        <p:nvSpPr>
          <p:cNvPr id="11" name="Text 9"/>
          <p:cNvSpPr txBox="1"/>
          <p:nvPr/>
        </p:nvSpPr>
        <p:spPr>
          <a:xfrm>
            <a:off x="2834640" y="1280160"/>
            <a:ext cx="1024128" cy="566928"/>
          </a:xfrm>
          <a:prstGeom prst="rect">
            <a:avLst/>
          </a:prstGeom>
          <a:noFill/>
          <a:ln/>
        </p:spPr>
        <p:txBody>
          <a:bodyPr wrap="square" lIns="0" tIns="0" rIns="0" bIns="0" rtlCol="0" anchor="ctr"/>
          <a:lstStyle/>
          <a:p>
            <a:pPr algn="ctr" indent="0" marL="0">
              <a:buNone/>
            </a:pPr>
            <a:r>
              <a:rPr lang="en-US" sz="1200" b="1" dirty="0">
                <a:solidFill>
                  <a:srgbClr val="1F4C8F"/>
                </a:solidFill>
              </a:rPr>
              <a:t>QI</a:t>
            </a:r>
            <a:endParaRPr lang="en-US" sz="1200" dirty="0"/>
          </a:p>
          <a:p>
            <a:pPr algn="ctr" indent="0" marL="0">
              <a:buNone/>
            </a:pPr>
            <a:r>
              <a:rPr lang="en-US" sz="1000" dirty="0">
                <a:solidFill>
                  <a:srgbClr val="1F4C8F"/>
                </a:solidFill>
              </a:rPr>
              <a:t>final review</a:t>
            </a:r>
            <a:endParaRPr lang="en-US" sz="1200" dirty="0"/>
          </a:p>
        </p:txBody>
      </p:sp>
      <p:sp>
        <p:nvSpPr>
          <p:cNvPr id="12" name="Text 10"/>
          <p:cNvSpPr txBox="1"/>
          <p:nvPr/>
        </p:nvSpPr>
        <p:spPr>
          <a:xfrm>
            <a:off x="3858768" y="1280160"/>
            <a:ext cx="164592" cy="566928"/>
          </a:xfrm>
          <a:prstGeom prst="rect">
            <a:avLst/>
          </a:prstGeom>
          <a:noFill/>
          <a:ln/>
        </p:spPr>
        <p:txBody>
          <a:bodyPr wrap="square" lIns="0" tIns="0" rIns="0" bIns="0" rtlCol="0" anchor="ctr"/>
          <a:lstStyle/>
          <a:p>
            <a:pPr algn="ctr" indent="0" marL="0">
              <a:buNone/>
            </a:pPr>
            <a:r>
              <a:rPr lang="en-US" sz="1600" dirty="0">
                <a:solidFill>
                  <a:srgbClr val="586661"/>
                </a:solidFill>
              </a:rPr>
              <a:t>›</a:t>
            </a:r>
            <a:endParaRPr lang="en-US" sz="1600" dirty="0"/>
          </a:p>
        </p:txBody>
      </p:sp>
      <p:sp>
        <p:nvSpPr>
          <p:cNvPr id="13" name="Shape 11"/>
          <p:cNvSpPr/>
          <p:nvPr/>
        </p:nvSpPr>
        <p:spPr>
          <a:xfrm>
            <a:off x="4023360" y="1280160"/>
            <a:ext cx="1024128" cy="566928"/>
          </a:xfrm>
          <a:prstGeom prst="roundRect">
            <a:avLst>
              <a:gd name="adj" fmla="val 11290"/>
            </a:avLst>
          </a:prstGeom>
          <a:solidFill>
            <a:srgbClr val="DFF1E4"/>
          </a:solidFill>
          <a:ln w="9525">
            <a:solidFill>
              <a:srgbClr val="1F7A3D"/>
            </a:solidFill>
            <a:prstDash val="solid"/>
          </a:ln>
        </p:spPr>
      </p:sp>
      <p:sp>
        <p:nvSpPr>
          <p:cNvPr id="14" name="Text 12"/>
          <p:cNvSpPr txBox="1"/>
          <p:nvPr/>
        </p:nvSpPr>
        <p:spPr>
          <a:xfrm>
            <a:off x="4023360" y="1280160"/>
            <a:ext cx="1024128" cy="566928"/>
          </a:xfrm>
          <a:prstGeom prst="rect">
            <a:avLst/>
          </a:prstGeom>
          <a:noFill/>
          <a:ln/>
        </p:spPr>
        <p:txBody>
          <a:bodyPr wrap="square" lIns="0" tIns="0" rIns="0" bIns="0" rtlCol="0" anchor="ctr"/>
          <a:lstStyle/>
          <a:p>
            <a:pPr algn="ctr" indent="0" marL="0">
              <a:buNone/>
            </a:pPr>
            <a:r>
              <a:rPr lang="en-US" sz="1200" b="1" dirty="0">
                <a:solidFill>
                  <a:srgbClr val="1F7A3D"/>
                </a:solidFill>
              </a:rPr>
              <a:t>Approved</a:t>
            </a:r>
            <a:endParaRPr lang="en-US" sz="1200" dirty="0"/>
          </a:p>
          <a:p>
            <a:pPr algn="ctr" indent="0" marL="0">
              <a:buNone/>
            </a:pPr>
            <a:r>
              <a:rPr lang="en-US" sz="1000" dirty="0">
                <a:solidFill>
                  <a:srgbClr val="1F7A3D"/>
                </a:solidFill>
              </a:rPr>
              <a:t>by both</a:t>
            </a:r>
            <a:endParaRPr lang="en-US" sz="1200" dirty="0"/>
          </a:p>
        </p:txBody>
      </p:sp>
      <p:sp>
        <p:nvSpPr>
          <p:cNvPr id="15" name="Text 13"/>
          <p:cNvSpPr txBox="1"/>
          <p:nvPr/>
        </p:nvSpPr>
        <p:spPr>
          <a:xfrm>
            <a:off x="457200" y="2057400"/>
            <a:ext cx="5486400" cy="274320"/>
          </a:xfrm>
          <a:prstGeom prst="rect">
            <a:avLst/>
          </a:prstGeom>
          <a:noFill/>
          <a:ln/>
        </p:spPr>
        <p:txBody>
          <a:bodyPr wrap="square" lIns="0" tIns="0" rIns="0" bIns="0" rtlCol="0" anchor="ctr"/>
          <a:lstStyle/>
          <a:p>
            <a:pPr indent="0" marL="0">
              <a:buNone/>
            </a:pPr>
            <a:r>
              <a:rPr lang="en-US" sz="1200" b="1" dirty="0">
                <a:solidFill>
                  <a:srgbClr val="586661"/>
                </a:solidFill>
              </a:rPr>
              <a:t>A QI rejection at page 1, then one resubmit</a:t>
            </a:r>
            <a:endParaRPr lang="en-US" sz="1200" dirty="0"/>
          </a:p>
        </p:txBody>
      </p:sp>
      <p:sp>
        <p:nvSpPr>
          <p:cNvPr id="16" name="Shape 14"/>
          <p:cNvSpPr/>
          <p:nvPr/>
        </p:nvSpPr>
        <p:spPr>
          <a:xfrm>
            <a:off x="457200" y="2331720"/>
            <a:ext cx="1024128" cy="566928"/>
          </a:xfrm>
          <a:prstGeom prst="roundRect">
            <a:avLst>
              <a:gd name="adj" fmla="val 11290"/>
            </a:avLst>
          </a:prstGeom>
          <a:solidFill>
            <a:srgbClr val="DFF1E4"/>
          </a:solidFill>
          <a:ln w="9525">
            <a:solidFill>
              <a:srgbClr val="1F7A3D"/>
            </a:solidFill>
            <a:prstDash val="solid"/>
          </a:ln>
        </p:spPr>
      </p:sp>
      <p:sp>
        <p:nvSpPr>
          <p:cNvPr id="17" name="Text 15"/>
          <p:cNvSpPr txBox="1"/>
          <p:nvPr/>
        </p:nvSpPr>
        <p:spPr>
          <a:xfrm>
            <a:off x="457200" y="2331720"/>
            <a:ext cx="1024128" cy="566928"/>
          </a:xfrm>
          <a:prstGeom prst="rect">
            <a:avLst/>
          </a:prstGeom>
          <a:noFill/>
          <a:ln/>
        </p:spPr>
        <p:txBody>
          <a:bodyPr wrap="square" lIns="0" tIns="0" rIns="0" bIns="0" rtlCol="0" anchor="ctr"/>
          <a:lstStyle/>
          <a:p>
            <a:pPr algn="ctr" indent="0" marL="0">
              <a:buNone/>
            </a:pPr>
            <a:r>
              <a:rPr lang="en-US" sz="1200" b="1" dirty="0">
                <a:solidFill>
                  <a:srgbClr val="1F7A3D"/>
                </a:solidFill>
              </a:rPr>
              <a:t>EE</a:t>
            </a:r>
            <a:endParaRPr lang="en-US" sz="1200" dirty="0"/>
          </a:p>
          <a:p>
            <a:pPr algn="ctr" indent="0" marL="0">
              <a:buNone/>
            </a:pPr>
            <a:r>
              <a:rPr lang="en-US" sz="1000" dirty="0">
                <a:solidFill>
                  <a:srgbClr val="1F7A3D"/>
                </a:solidFill>
              </a:rPr>
              <a:t>approve</a:t>
            </a:r>
            <a:endParaRPr lang="en-US" sz="1200" dirty="0"/>
          </a:p>
        </p:txBody>
      </p:sp>
      <p:sp>
        <p:nvSpPr>
          <p:cNvPr id="18" name="Text 16"/>
          <p:cNvSpPr txBox="1"/>
          <p:nvPr/>
        </p:nvSpPr>
        <p:spPr>
          <a:xfrm>
            <a:off x="1481328" y="2331720"/>
            <a:ext cx="164592" cy="566928"/>
          </a:xfrm>
          <a:prstGeom prst="rect">
            <a:avLst/>
          </a:prstGeom>
          <a:noFill/>
          <a:ln/>
        </p:spPr>
        <p:txBody>
          <a:bodyPr wrap="square" lIns="0" tIns="0" rIns="0" bIns="0" rtlCol="0" anchor="ctr"/>
          <a:lstStyle/>
          <a:p>
            <a:pPr algn="ctr" indent="0" marL="0">
              <a:buNone/>
            </a:pPr>
            <a:r>
              <a:rPr lang="en-US" sz="1600" dirty="0">
                <a:solidFill>
                  <a:srgbClr val="586661"/>
                </a:solidFill>
              </a:rPr>
              <a:t>›</a:t>
            </a:r>
            <a:endParaRPr lang="en-US" sz="1600" dirty="0"/>
          </a:p>
        </p:txBody>
      </p:sp>
      <p:sp>
        <p:nvSpPr>
          <p:cNvPr id="19" name="Shape 17"/>
          <p:cNvSpPr/>
          <p:nvPr/>
        </p:nvSpPr>
        <p:spPr>
          <a:xfrm>
            <a:off x="1645920" y="2331720"/>
            <a:ext cx="1024128" cy="566928"/>
          </a:xfrm>
          <a:prstGeom prst="roundRect">
            <a:avLst>
              <a:gd name="adj" fmla="val 11290"/>
            </a:avLst>
          </a:prstGeom>
          <a:solidFill>
            <a:srgbClr val="F8DEDB"/>
          </a:solidFill>
          <a:ln w="9525">
            <a:solidFill>
              <a:srgbClr val="B3261E"/>
            </a:solidFill>
            <a:prstDash val="solid"/>
          </a:ln>
        </p:spPr>
      </p:sp>
      <p:sp>
        <p:nvSpPr>
          <p:cNvPr id="20" name="Text 18"/>
          <p:cNvSpPr txBox="1"/>
          <p:nvPr/>
        </p:nvSpPr>
        <p:spPr>
          <a:xfrm>
            <a:off x="1645920" y="2331720"/>
            <a:ext cx="1024128" cy="566928"/>
          </a:xfrm>
          <a:prstGeom prst="rect">
            <a:avLst/>
          </a:prstGeom>
          <a:noFill/>
          <a:ln/>
        </p:spPr>
        <p:txBody>
          <a:bodyPr wrap="square" lIns="0" tIns="0" rIns="0" bIns="0" rtlCol="0" anchor="ctr"/>
          <a:lstStyle/>
          <a:p>
            <a:pPr algn="ctr" indent="0" marL="0">
              <a:buNone/>
            </a:pPr>
            <a:r>
              <a:rPr lang="en-US" sz="1200" b="1" dirty="0">
                <a:solidFill>
                  <a:srgbClr val="B3261E"/>
                </a:solidFill>
              </a:rPr>
              <a:t>QI</a:t>
            </a:r>
            <a:endParaRPr lang="en-US" sz="1200" dirty="0"/>
          </a:p>
          <a:p>
            <a:pPr algn="ctr" indent="0" marL="0">
              <a:buNone/>
            </a:pPr>
            <a:r>
              <a:rPr lang="en-US" sz="1000" dirty="0">
                <a:solidFill>
                  <a:srgbClr val="B3261E"/>
                </a:solidFill>
              </a:rPr>
              <a:t>reject page 1</a:t>
            </a:r>
            <a:endParaRPr lang="en-US" sz="1200" dirty="0"/>
          </a:p>
        </p:txBody>
      </p:sp>
      <p:sp>
        <p:nvSpPr>
          <p:cNvPr id="21" name="Text 19"/>
          <p:cNvSpPr txBox="1"/>
          <p:nvPr/>
        </p:nvSpPr>
        <p:spPr>
          <a:xfrm>
            <a:off x="2670048" y="2331720"/>
            <a:ext cx="164592" cy="566928"/>
          </a:xfrm>
          <a:prstGeom prst="rect">
            <a:avLst/>
          </a:prstGeom>
          <a:noFill/>
          <a:ln/>
        </p:spPr>
        <p:txBody>
          <a:bodyPr wrap="square" lIns="0" tIns="0" rIns="0" bIns="0" rtlCol="0" anchor="ctr"/>
          <a:lstStyle/>
          <a:p>
            <a:pPr algn="ctr" indent="0" marL="0">
              <a:buNone/>
            </a:pPr>
            <a:r>
              <a:rPr lang="en-US" sz="1600" dirty="0">
                <a:solidFill>
                  <a:srgbClr val="586661"/>
                </a:solidFill>
              </a:rPr>
              <a:t>›</a:t>
            </a:r>
            <a:endParaRPr lang="en-US" sz="1600" dirty="0"/>
          </a:p>
        </p:txBody>
      </p:sp>
      <p:sp>
        <p:nvSpPr>
          <p:cNvPr id="22" name="Shape 20"/>
          <p:cNvSpPr/>
          <p:nvPr/>
        </p:nvSpPr>
        <p:spPr>
          <a:xfrm>
            <a:off x="2834640" y="2331720"/>
            <a:ext cx="1024128" cy="566928"/>
          </a:xfrm>
          <a:prstGeom prst="roundRect">
            <a:avLst>
              <a:gd name="adj" fmla="val 11290"/>
            </a:avLst>
          </a:prstGeom>
          <a:solidFill>
            <a:srgbClr val="DDE8F7"/>
          </a:solidFill>
          <a:ln w="9525">
            <a:solidFill>
              <a:srgbClr val="1F4C8F"/>
            </a:solidFill>
            <a:prstDash val="solid"/>
          </a:ln>
        </p:spPr>
      </p:sp>
      <p:sp>
        <p:nvSpPr>
          <p:cNvPr id="23" name="Text 21"/>
          <p:cNvSpPr txBox="1"/>
          <p:nvPr/>
        </p:nvSpPr>
        <p:spPr>
          <a:xfrm>
            <a:off x="2834640" y="2331720"/>
            <a:ext cx="1024128" cy="566928"/>
          </a:xfrm>
          <a:prstGeom prst="rect">
            <a:avLst/>
          </a:prstGeom>
          <a:noFill/>
          <a:ln/>
        </p:spPr>
        <p:txBody>
          <a:bodyPr wrap="square" lIns="0" tIns="0" rIns="0" bIns="0" rtlCol="0" anchor="ctr"/>
          <a:lstStyle/>
          <a:p>
            <a:pPr algn="ctr" indent="0" marL="0">
              <a:buNone/>
            </a:pPr>
            <a:r>
              <a:rPr lang="en-US" sz="1200" b="1" dirty="0">
                <a:solidFill>
                  <a:srgbClr val="1F4C8F"/>
                </a:solidFill>
              </a:rPr>
              <a:t>CI</a:t>
            </a:r>
            <a:endParaRPr lang="en-US" sz="1200" dirty="0"/>
          </a:p>
          <a:p>
            <a:pPr algn="ctr" indent="0" marL="0">
              <a:buNone/>
            </a:pPr>
            <a:r>
              <a:rPr lang="en-US" sz="1000" dirty="0">
                <a:solidFill>
                  <a:srgbClr val="1F4C8F"/>
                </a:solidFill>
              </a:rPr>
              <a:t>resubmit</a:t>
            </a:r>
            <a:endParaRPr lang="en-US" sz="1200" dirty="0"/>
          </a:p>
        </p:txBody>
      </p:sp>
      <p:sp>
        <p:nvSpPr>
          <p:cNvPr id="24" name="Text 22"/>
          <p:cNvSpPr txBox="1"/>
          <p:nvPr/>
        </p:nvSpPr>
        <p:spPr>
          <a:xfrm>
            <a:off x="3858768" y="2331720"/>
            <a:ext cx="164592" cy="566928"/>
          </a:xfrm>
          <a:prstGeom prst="rect">
            <a:avLst/>
          </a:prstGeom>
          <a:noFill/>
          <a:ln/>
        </p:spPr>
        <p:txBody>
          <a:bodyPr wrap="square" lIns="0" tIns="0" rIns="0" bIns="0" rtlCol="0" anchor="ctr"/>
          <a:lstStyle/>
          <a:p>
            <a:pPr algn="ctr" indent="0" marL="0">
              <a:buNone/>
            </a:pPr>
            <a:r>
              <a:rPr lang="en-US" sz="1600" dirty="0">
                <a:solidFill>
                  <a:srgbClr val="586661"/>
                </a:solidFill>
              </a:rPr>
              <a:t>›</a:t>
            </a:r>
            <a:endParaRPr lang="en-US" sz="1600" dirty="0"/>
          </a:p>
        </p:txBody>
      </p:sp>
      <p:sp>
        <p:nvSpPr>
          <p:cNvPr id="25" name="Shape 23"/>
          <p:cNvSpPr/>
          <p:nvPr/>
        </p:nvSpPr>
        <p:spPr>
          <a:xfrm>
            <a:off x="4023360" y="2331720"/>
            <a:ext cx="1024128" cy="566928"/>
          </a:xfrm>
          <a:prstGeom prst="roundRect">
            <a:avLst>
              <a:gd name="adj" fmla="val 11290"/>
            </a:avLst>
          </a:prstGeom>
          <a:solidFill>
            <a:srgbClr val="DFF1E4"/>
          </a:solidFill>
          <a:ln w="9525">
            <a:solidFill>
              <a:srgbClr val="1F7A3D"/>
            </a:solidFill>
            <a:prstDash val="solid"/>
          </a:ln>
        </p:spPr>
      </p:sp>
      <p:sp>
        <p:nvSpPr>
          <p:cNvPr id="26" name="Text 24"/>
          <p:cNvSpPr txBox="1"/>
          <p:nvPr/>
        </p:nvSpPr>
        <p:spPr>
          <a:xfrm>
            <a:off x="4023360" y="2331720"/>
            <a:ext cx="1024128" cy="566928"/>
          </a:xfrm>
          <a:prstGeom prst="rect">
            <a:avLst/>
          </a:prstGeom>
          <a:noFill/>
          <a:ln/>
        </p:spPr>
        <p:txBody>
          <a:bodyPr wrap="square" lIns="0" tIns="0" rIns="0" bIns="0" rtlCol="0" anchor="ctr"/>
          <a:lstStyle/>
          <a:p>
            <a:pPr algn="ctr" indent="0" marL="0">
              <a:buNone/>
            </a:pPr>
            <a:r>
              <a:rPr lang="en-US" sz="1200" b="1" dirty="0">
                <a:solidFill>
                  <a:srgbClr val="1F7A3D"/>
                </a:solidFill>
              </a:rPr>
              <a:t>EE</a:t>
            </a:r>
            <a:endParaRPr lang="en-US" sz="1200" dirty="0"/>
          </a:p>
          <a:p>
            <a:pPr algn="ctr" indent="0" marL="0">
              <a:buNone/>
            </a:pPr>
            <a:r>
              <a:rPr lang="en-US" sz="1000" dirty="0">
                <a:solidFill>
                  <a:srgbClr val="1F7A3D"/>
                </a:solidFill>
              </a:rPr>
              <a:t>approve</a:t>
            </a:r>
            <a:endParaRPr lang="en-US" sz="1200" dirty="0"/>
          </a:p>
        </p:txBody>
      </p:sp>
      <p:sp>
        <p:nvSpPr>
          <p:cNvPr id="27" name="Text 25"/>
          <p:cNvSpPr txBox="1"/>
          <p:nvPr/>
        </p:nvSpPr>
        <p:spPr>
          <a:xfrm>
            <a:off x="5047488" y="2331720"/>
            <a:ext cx="164592" cy="566928"/>
          </a:xfrm>
          <a:prstGeom prst="rect">
            <a:avLst/>
          </a:prstGeom>
          <a:noFill/>
          <a:ln/>
        </p:spPr>
        <p:txBody>
          <a:bodyPr wrap="square" lIns="0" tIns="0" rIns="0" bIns="0" rtlCol="0" anchor="ctr"/>
          <a:lstStyle/>
          <a:p>
            <a:pPr algn="ctr" indent="0" marL="0">
              <a:buNone/>
            </a:pPr>
            <a:r>
              <a:rPr lang="en-US" sz="1600" dirty="0">
                <a:solidFill>
                  <a:srgbClr val="586661"/>
                </a:solidFill>
              </a:rPr>
              <a:t>›</a:t>
            </a:r>
            <a:endParaRPr lang="en-US" sz="1600" dirty="0"/>
          </a:p>
        </p:txBody>
      </p:sp>
      <p:sp>
        <p:nvSpPr>
          <p:cNvPr id="28" name="Shape 26"/>
          <p:cNvSpPr/>
          <p:nvPr/>
        </p:nvSpPr>
        <p:spPr>
          <a:xfrm>
            <a:off x="5212080" y="2331720"/>
            <a:ext cx="1024128" cy="566928"/>
          </a:xfrm>
          <a:prstGeom prst="roundRect">
            <a:avLst>
              <a:gd name="adj" fmla="val 11290"/>
            </a:avLst>
          </a:prstGeom>
          <a:solidFill>
            <a:srgbClr val="DFF1E4"/>
          </a:solidFill>
          <a:ln w="9525">
            <a:solidFill>
              <a:srgbClr val="1F7A3D"/>
            </a:solidFill>
            <a:prstDash val="solid"/>
          </a:ln>
        </p:spPr>
      </p:sp>
      <p:sp>
        <p:nvSpPr>
          <p:cNvPr id="29" name="Text 27"/>
          <p:cNvSpPr txBox="1"/>
          <p:nvPr/>
        </p:nvSpPr>
        <p:spPr>
          <a:xfrm>
            <a:off x="5212080" y="2331720"/>
            <a:ext cx="1024128" cy="566928"/>
          </a:xfrm>
          <a:prstGeom prst="rect">
            <a:avLst/>
          </a:prstGeom>
          <a:noFill/>
          <a:ln/>
        </p:spPr>
        <p:txBody>
          <a:bodyPr wrap="square" lIns="0" tIns="0" rIns="0" bIns="0" rtlCol="0" anchor="ctr"/>
          <a:lstStyle/>
          <a:p>
            <a:pPr algn="ctr" indent="0" marL="0">
              <a:buNone/>
            </a:pPr>
            <a:r>
              <a:rPr lang="en-US" sz="1200" b="1" dirty="0">
                <a:solidFill>
                  <a:srgbClr val="1F7A3D"/>
                </a:solidFill>
              </a:rPr>
              <a:t>QI</a:t>
            </a:r>
            <a:endParaRPr lang="en-US" sz="1200" dirty="0"/>
          </a:p>
          <a:p>
            <a:pPr algn="ctr" indent="0" marL="0">
              <a:buNone/>
            </a:pPr>
            <a:r>
              <a:rPr lang="en-US" sz="1000" dirty="0">
                <a:solidFill>
                  <a:srgbClr val="1F7A3D"/>
                </a:solidFill>
              </a:rPr>
              <a:t>approve</a:t>
            </a:r>
            <a:endParaRPr lang="en-US" sz="1200" dirty="0"/>
          </a:p>
        </p:txBody>
      </p:sp>
      <p:sp>
        <p:nvSpPr>
          <p:cNvPr id="30" name="Text 28"/>
          <p:cNvSpPr txBox="1"/>
          <p:nvPr/>
        </p:nvSpPr>
        <p:spPr>
          <a:xfrm>
            <a:off x="457200" y="3200400"/>
            <a:ext cx="822960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00000"/>
                </a:solidFill>
              </a:rPr>
              <a:t>Two ways to reject: from page 1 (the details) or from the checklist by marking an item Not OK.</a:t>
            </a:r>
            <a:endParaRPr lang="en-US" sz="1400" dirty="0"/>
          </a:p>
          <a:p>
            <a:pPr marL="342900" indent="-342900">
              <a:spcAft>
                <a:spcPts val="600"/>
              </a:spcAft>
              <a:buSzPct val="100000"/>
              <a:buChar char="•"/>
            </a:pPr>
            <a:r>
              <a:rPr lang="en-US" sz="1400" dirty="0">
                <a:solidFill>
                  <a:srgbClr val="000000"/>
                </a:solidFill>
              </a:rPr>
              <a:t>Any rejection goes back to CI, and after a resubmit the RFI passes through EE again.</a:t>
            </a:r>
            <a:endParaRPr lang="en-US" sz="1400" dirty="0"/>
          </a:p>
          <a:p>
            <a:pPr marL="342900" indent="-342900">
              <a:spcAft>
                <a:spcPts val="600"/>
              </a:spcAft>
              <a:buSzPct val="100000"/>
              <a:buChar char="•"/>
            </a:pPr>
            <a:r>
              <a:rPr lang="en-US" sz="1400" dirty="0">
                <a:solidFill>
                  <a:srgbClr val="000000"/>
                </a:solidFill>
              </a:rPr>
              <a:t>Nine combinations of who rejects and where are all supported.</a:t>
            </a:r>
            <a:endParaRPr lang="en-US" sz="14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86661"/>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B3D36"/>
                </a:solidFill>
                <a:latin typeface="Cambria" pitchFamily="34" charset="0"/>
                <a:ea typeface="Cambria" pitchFamily="34" charset="-122"/>
                <a:cs typeface="Cambria" pitchFamily="34" charset="-120"/>
              </a:rPr>
              <a:t>RFI rules worth remembering</a:t>
            </a:r>
            <a:endParaRPr lang="en-US" sz="3000" dirty="0"/>
          </a:p>
        </p:txBody>
      </p:sp>
      <p:sp>
        <p:nvSpPr>
          <p:cNvPr id="3" name="card Code and resubmits"/>
          <p:cNvSpPr/>
          <p:nvPr/>
        </p:nvSpPr>
        <p:spPr>
          <a:xfrm>
            <a:off x="457200" y="1051560"/>
            <a:ext cx="3977640" cy="1600200"/>
          </a:xfrm>
          <a:prstGeom prst="roundRect">
            <a:avLst>
              <a:gd name="adj" fmla="val 4571"/>
            </a:avLst>
          </a:prstGeom>
          <a:solidFill>
            <a:srgbClr val="EEF3F0"/>
          </a:solidFill>
          <a:ln w="9525">
            <a:solidFill>
              <a:srgbClr val="D3DAD5"/>
            </a:solidFill>
            <a:prstDash val="solid"/>
          </a:ln>
        </p:spPr>
      </p:sp>
      <p:sp>
        <p:nvSpPr>
          <p:cNvPr id="4" name="Text 2"/>
          <p:cNvSpPr txBox="1"/>
          <p:nvPr/>
        </p:nvSpPr>
        <p:spPr>
          <a:xfrm>
            <a:off x="621792" y="1161288"/>
            <a:ext cx="3648456" cy="320040"/>
          </a:xfrm>
          <a:prstGeom prst="rect">
            <a:avLst/>
          </a:prstGeom>
          <a:noFill/>
          <a:ln/>
        </p:spPr>
        <p:txBody>
          <a:bodyPr wrap="square" lIns="0" tIns="0" rIns="0" bIns="0" rtlCol="0" anchor="t"/>
          <a:lstStyle/>
          <a:p>
            <a:pPr indent="0" marL="0">
              <a:buNone/>
            </a:pPr>
            <a:r>
              <a:rPr lang="en-US" sz="1600" b="1" dirty="0">
                <a:solidFill>
                  <a:srgbClr val="0B3D36"/>
                </a:solidFill>
                <a:latin typeface="Cambria" pitchFamily="34" charset="0"/>
                <a:ea typeface="Cambria" pitchFamily="34" charset="-122"/>
                <a:cs typeface="Cambria" pitchFamily="34" charset="-120"/>
              </a:rPr>
              <a:t>Code and resubmits</a:t>
            </a:r>
            <a:endParaRPr lang="en-US" sz="1600" dirty="0"/>
          </a:p>
        </p:txBody>
      </p:sp>
      <p:sp>
        <p:nvSpPr>
          <p:cNvPr id="5" name="Text 3"/>
          <p:cNvSpPr txBox="1"/>
          <p:nvPr/>
        </p:nvSpPr>
        <p:spPr>
          <a:xfrm>
            <a:off x="621792" y="1527048"/>
            <a:ext cx="3648456" cy="1033272"/>
          </a:xfrm>
          <a:prstGeom prst="rect">
            <a:avLst/>
          </a:prstGeom>
          <a:noFill/>
          <a:ln/>
        </p:spPr>
        <p:txBody>
          <a:bodyPr wrap="square" lIns="0" tIns="0" rIns="0" bIns="0" rtlCol="0" anchor="t"/>
          <a:lstStyle/>
          <a:p>
            <a:pPr indent="0" marL="0">
              <a:spcAft>
                <a:spcPts val="400"/>
              </a:spcAft>
              <a:buNone/>
            </a:pPr>
            <a:r>
              <a:rPr lang="en-US" sz="1300" dirty="0">
                <a:solidFill>
                  <a:srgbClr val="16201D"/>
                </a:solidFill>
              </a:rPr>
              <a:t>Format RFI-&lt;Work Location&gt;-&lt;Work Area&gt;-CIV-&lt;n&gt;. A resubmit makes a new child record. The code changes only if location, area, package, work section or checklist changed.</a:t>
            </a:r>
            <a:endParaRPr lang="en-US" sz="1300" dirty="0"/>
          </a:p>
        </p:txBody>
      </p:sp>
      <p:sp>
        <p:nvSpPr>
          <p:cNvPr id="6" name="card Drafts autosave locally"/>
          <p:cNvSpPr/>
          <p:nvPr/>
        </p:nvSpPr>
        <p:spPr>
          <a:xfrm>
            <a:off x="4709160" y="1051560"/>
            <a:ext cx="3977640" cy="1600200"/>
          </a:xfrm>
          <a:prstGeom prst="roundRect">
            <a:avLst>
              <a:gd name="adj" fmla="val 4571"/>
            </a:avLst>
          </a:prstGeom>
          <a:solidFill>
            <a:srgbClr val="EEF3F0"/>
          </a:solidFill>
          <a:ln w="9525">
            <a:solidFill>
              <a:srgbClr val="D3DAD5"/>
            </a:solidFill>
            <a:prstDash val="solid"/>
          </a:ln>
        </p:spPr>
      </p:sp>
      <p:sp>
        <p:nvSpPr>
          <p:cNvPr id="7" name="Text 5"/>
          <p:cNvSpPr txBox="1"/>
          <p:nvPr/>
        </p:nvSpPr>
        <p:spPr>
          <a:xfrm>
            <a:off x="4873752" y="1161288"/>
            <a:ext cx="3648456" cy="320040"/>
          </a:xfrm>
          <a:prstGeom prst="rect">
            <a:avLst/>
          </a:prstGeom>
          <a:noFill/>
          <a:ln/>
        </p:spPr>
        <p:txBody>
          <a:bodyPr wrap="square" lIns="0" tIns="0" rIns="0" bIns="0" rtlCol="0" anchor="t"/>
          <a:lstStyle/>
          <a:p>
            <a:pPr indent="0" marL="0">
              <a:buNone/>
            </a:pPr>
            <a:r>
              <a:rPr lang="en-US" sz="1600" b="1" dirty="0">
                <a:solidFill>
                  <a:srgbClr val="0B3D36"/>
                </a:solidFill>
                <a:latin typeface="Cambria" pitchFamily="34" charset="0"/>
                <a:ea typeface="Cambria" pitchFamily="34" charset="-122"/>
                <a:cs typeface="Cambria" pitchFamily="34" charset="-120"/>
              </a:rPr>
              <a:t>Drafts autosave locally</a:t>
            </a:r>
            <a:endParaRPr lang="en-US" sz="1600" dirty="0"/>
          </a:p>
        </p:txBody>
      </p:sp>
      <p:sp>
        <p:nvSpPr>
          <p:cNvPr id="8" name="Text 6"/>
          <p:cNvSpPr txBox="1"/>
          <p:nvPr/>
        </p:nvSpPr>
        <p:spPr>
          <a:xfrm>
            <a:off x="4873752" y="1527048"/>
            <a:ext cx="3648456" cy="1033272"/>
          </a:xfrm>
          <a:prstGeom prst="rect">
            <a:avLst/>
          </a:prstGeom>
          <a:noFill/>
          <a:ln/>
        </p:spPr>
        <p:txBody>
          <a:bodyPr wrap="square" lIns="0" tIns="0" rIns="0" bIns="0" rtlCol="0" anchor="t"/>
          <a:lstStyle/>
          <a:p>
            <a:pPr indent="0" marL="0">
              <a:spcAft>
                <a:spcPts val="400"/>
              </a:spcAft>
              <a:buNone/>
            </a:pPr>
            <a:r>
              <a:rPr lang="en-US" sz="1300" dirty="0">
                <a:solidFill>
                  <a:srgbClr val="16201D"/>
                </a:solidFill>
              </a:rPr>
              <a:t>Leaving the create form saves an In-Draft row in that browser only. A fresh login loses it.</a:t>
            </a:r>
            <a:endParaRPr lang="en-US" sz="1300" dirty="0"/>
          </a:p>
        </p:txBody>
      </p:sp>
      <p:sp>
        <p:nvSpPr>
          <p:cNvPr id="9" name="card A page-1 rejection frees the form"/>
          <p:cNvSpPr/>
          <p:nvPr/>
        </p:nvSpPr>
        <p:spPr>
          <a:xfrm>
            <a:off x="457200" y="2834640"/>
            <a:ext cx="3977640" cy="1600200"/>
          </a:xfrm>
          <a:prstGeom prst="roundRect">
            <a:avLst>
              <a:gd name="adj" fmla="val 4571"/>
            </a:avLst>
          </a:prstGeom>
          <a:solidFill>
            <a:srgbClr val="EEF3F0"/>
          </a:solidFill>
          <a:ln w="9525">
            <a:solidFill>
              <a:srgbClr val="D3DAD5"/>
            </a:solidFill>
            <a:prstDash val="solid"/>
          </a:ln>
        </p:spPr>
      </p:sp>
      <p:sp>
        <p:nvSpPr>
          <p:cNvPr id="10" name="Text 8"/>
          <p:cNvSpPr txBox="1"/>
          <p:nvPr/>
        </p:nvSpPr>
        <p:spPr>
          <a:xfrm>
            <a:off x="621792" y="2944368"/>
            <a:ext cx="3648456" cy="320040"/>
          </a:xfrm>
          <a:prstGeom prst="rect">
            <a:avLst/>
          </a:prstGeom>
          <a:noFill/>
          <a:ln/>
        </p:spPr>
        <p:txBody>
          <a:bodyPr wrap="square" lIns="0" tIns="0" rIns="0" bIns="0" rtlCol="0" anchor="t"/>
          <a:lstStyle/>
          <a:p>
            <a:pPr indent="0" marL="0">
              <a:buNone/>
            </a:pPr>
            <a:r>
              <a:rPr lang="en-US" sz="1600" b="1" dirty="0">
                <a:solidFill>
                  <a:srgbClr val="0B3D36"/>
                </a:solidFill>
                <a:latin typeface="Cambria" pitchFamily="34" charset="0"/>
                <a:ea typeface="Cambria" pitchFamily="34" charset="-122"/>
                <a:cs typeface="Cambria" pitchFamily="34" charset="-120"/>
              </a:rPr>
              <a:t>A page-1 rejection frees the form</a:t>
            </a:r>
            <a:endParaRPr lang="en-US" sz="1600" dirty="0"/>
          </a:p>
        </p:txBody>
      </p:sp>
      <p:sp>
        <p:nvSpPr>
          <p:cNvPr id="11" name="Text 9"/>
          <p:cNvSpPr txBox="1"/>
          <p:nvPr/>
        </p:nvSpPr>
        <p:spPr>
          <a:xfrm>
            <a:off x="621792" y="3310128"/>
            <a:ext cx="3648456" cy="1033272"/>
          </a:xfrm>
          <a:prstGeom prst="rect">
            <a:avLst/>
          </a:prstGeom>
          <a:noFill/>
          <a:ln/>
        </p:spPr>
        <p:txBody>
          <a:bodyPr wrap="square" lIns="0" tIns="0" rIns="0" bIns="0" rtlCol="0" anchor="t"/>
          <a:lstStyle/>
          <a:p>
            <a:pPr indent="0" marL="0">
              <a:spcAft>
                <a:spcPts val="400"/>
              </a:spcAft>
              <a:buNone/>
            </a:pPr>
            <a:r>
              <a:rPr lang="en-US" sz="1300" dirty="0">
                <a:solidFill>
                  <a:srgbClr val="16201D"/>
                </a:solidFill>
              </a:rPr>
              <a:t>CI may change any first-page detail on resubmit. The old selections are released.</a:t>
            </a:r>
            <a:endParaRPr lang="en-US" sz="1300" dirty="0"/>
          </a:p>
        </p:txBody>
      </p:sp>
      <p:sp>
        <p:nvSpPr>
          <p:cNvPr id="12" name="card Reviewers are not vendor-scoped"/>
          <p:cNvSpPr/>
          <p:nvPr/>
        </p:nvSpPr>
        <p:spPr>
          <a:xfrm>
            <a:off x="4709160" y="2834640"/>
            <a:ext cx="3977640" cy="1600200"/>
          </a:xfrm>
          <a:prstGeom prst="roundRect">
            <a:avLst>
              <a:gd name="adj" fmla="val 4571"/>
            </a:avLst>
          </a:prstGeom>
          <a:solidFill>
            <a:srgbClr val="EEF3F0"/>
          </a:solidFill>
          <a:ln w="9525">
            <a:solidFill>
              <a:srgbClr val="D3DAD5"/>
            </a:solidFill>
            <a:prstDash val="solid"/>
          </a:ln>
        </p:spPr>
      </p:sp>
      <p:sp>
        <p:nvSpPr>
          <p:cNvPr id="13" name="Text 11"/>
          <p:cNvSpPr txBox="1"/>
          <p:nvPr/>
        </p:nvSpPr>
        <p:spPr>
          <a:xfrm>
            <a:off x="4873752" y="2944368"/>
            <a:ext cx="3648456" cy="320040"/>
          </a:xfrm>
          <a:prstGeom prst="rect">
            <a:avLst/>
          </a:prstGeom>
          <a:noFill/>
          <a:ln/>
        </p:spPr>
        <p:txBody>
          <a:bodyPr wrap="square" lIns="0" tIns="0" rIns="0" bIns="0" rtlCol="0" anchor="t"/>
          <a:lstStyle/>
          <a:p>
            <a:pPr indent="0" marL="0">
              <a:buNone/>
            </a:pPr>
            <a:r>
              <a:rPr lang="en-US" sz="1600" b="1" dirty="0">
                <a:solidFill>
                  <a:srgbClr val="0B3D36"/>
                </a:solidFill>
                <a:latin typeface="Cambria" pitchFamily="34" charset="0"/>
                <a:ea typeface="Cambria" pitchFamily="34" charset="-122"/>
                <a:cs typeface="Cambria" pitchFamily="34" charset="-120"/>
              </a:rPr>
              <a:t>Reviewers are not vendor-scoped</a:t>
            </a:r>
            <a:endParaRPr lang="en-US" sz="1600" dirty="0"/>
          </a:p>
        </p:txBody>
      </p:sp>
      <p:sp>
        <p:nvSpPr>
          <p:cNvPr id="14" name="Text 12"/>
          <p:cNvSpPr txBox="1"/>
          <p:nvPr/>
        </p:nvSpPr>
        <p:spPr>
          <a:xfrm>
            <a:off x="4873752" y="3310128"/>
            <a:ext cx="3648456" cy="1033272"/>
          </a:xfrm>
          <a:prstGeom prst="rect">
            <a:avLst/>
          </a:prstGeom>
          <a:noFill/>
          <a:ln/>
        </p:spPr>
        <p:txBody>
          <a:bodyPr wrap="square" lIns="0" tIns="0" rIns="0" bIns="0" rtlCol="0" anchor="t"/>
          <a:lstStyle/>
          <a:p>
            <a:pPr indent="0" marL="0">
              <a:spcAft>
                <a:spcPts val="400"/>
              </a:spcAft>
              <a:buNone/>
            </a:pPr>
            <a:r>
              <a:rPr lang="en-US" sz="1300" dirty="0">
                <a:solidFill>
                  <a:srgbClr val="16201D"/>
                </a:solidFill>
              </a:rPr>
              <a:t>EE and QI see every RFI in their Work Area, whichever contractor raised it.</a:t>
            </a:r>
            <a:endParaRPr lang="en-US" sz="13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86661"/>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B3D36"/>
                </a:solidFill>
                <a:latin typeface="Cambria" pitchFamily="34" charset="0"/>
                <a:ea typeface="Cambria" pitchFamily="34" charset="-122"/>
                <a:cs typeface="Cambria" pitchFamily="34" charset="-120"/>
              </a:rPr>
              <a:t>NC: quality raises it, the contractor fixes it</a:t>
            </a:r>
            <a:endParaRPr lang="en-US" sz="3000" dirty="0"/>
          </a:p>
        </p:txBody>
      </p:sp>
      <p:sp>
        <p:nvSpPr>
          <p:cNvPr id="3" name="Text 1"/>
          <p:cNvSpPr txBox="1"/>
          <p:nvPr/>
        </p:nvSpPr>
        <p:spPr>
          <a:xfrm>
            <a:off x="457200" y="1005840"/>
            <a:ext cx="4572000" cy="274320"/>
          </a:xfrm>
          <a:prstGeom prst="rect">
            <a:avLst/>
          </a:prstGeom>
          <a:noFill/>
          <a:ln/>
        </p:spPr>
        <p:txBody>
          <a:bodyPr wrap="square" lIns="0" tIns="0" rIns="0" bIns="0" rtlCol="0" anchor="ctr"/>
          <a:lstStyle/>
          <a:p>
            <a:pPr indent="0" marL="0">
              <a:buNone/>
            </a:pPr>
            <a:r>
              <a:rPr lang="en-US" sz="1200" b="1" dirty="0">
                <a:solidFill>
                  <a:srgbClr val="586661"/>
                </a:solidFill>
              </a:rPr>
              <a:t>Resolved with one rejection by EE</a:t>
            </a:r>
            <a:endParaRPr lang="en-US" sz="1200" dirty="0"/>
          </a:p>
        </p:txBody>
      </p:sp>
      <p:sp>
        <p:nvSpPr>
          <p:cNvPr id="4" name="Shape 2"/>
          <p:cNvSpPr/>
          <p:nvPr/>
        </p:nvSpPr>
        <p:spPr>
          <a:xfrm>
            <a:off x="457200" y="1280160"/>
            <a:ext cx="1024128" cy="566928"/>
          </a:xfrm>
          <a:prstGeom prst="roundRect">
            <a:avLst>
              <a:gd name="adj" fmla="val 11290"/>
            </a:avLst>
          </a:prstGeom>
          <a:solidFill>
            <a:srgbClr val="DDE8F7"/>
          </a:solidFill>
          <a:ln w="9525">
            <a:solidFill>
              <a:srgbClr val="1F4C8F"/>
            </a:solidFill>
            <a:prstDash val="solid"/>
          </a:ln>
        </p:spPr>
      </p:sp>
      <p:sp>
        <p:nvSpPr>
          <p:cNvPr id="5" name="Text 3"/>
          <p:cNvSpPr txBox="1"/>
          <p:nvPr/>
        </p:nvSpPr>
        <p:spPr>
          <a:xfrm>
            <a:off x="457200" y="1280160"/>
            <a:ext cx="1024128" cy="566928"/>
          </a:xfrm>
          <a:prstGeom prst="rect">
            <a:avLst/>
          </a:prstGeom>
          <a:noFill/>
          <a:ln/>
        </p:spPr>
        <p:txBody>
          <a:bodyPr wrap="square" lIns="0" tIns="0" rIns="0" bIns="0" rtlCol="0" anchor="ctr"/>
          <a:lstStyle/>
          <a:p>
            <a:pPr algn="ctr" indent="0" marL="0">
              <a:buNone/>
            </a:pPr>
            <a:r>
              <a:rPr lang="en-US" sz="1200" b="1" dirty="0">
                <a:solidFill>
                  <a:srgbClr val="1F4C8F"/>
                </a:solidFill>
              </a:rPr>
              <a:t>Creator</a:t>
            </a:r>
            <a:endParaRPr lang="en-US" sz="1200" dirty="0"/>
          </a:p>
          <a:p>
            <a:pPr algn="ctr" indent="0" marL="0">
              <a:buNone/>
            </a:pPr>
            <a:r>
              <a:rPr lang="en-US" sz="1000" dirty="0">
                <a:solidFill>
                  <a:srgbClr val="1F4C8F"/>
                </a:solidFill>
              </a:rPr>
              <a:t>raises NC</a:t>
            </a:r>
            <a:endParaRPr lang="en-US" sz="1200" dirty="0"/>
          </a:p>
        </p:txBody>
      </p:sp>
      <p:sp>
        <p:nvSpPr>
          <p:cNvPr id="6" name="Text 4"/>
          <p:cNvSpPr txBox="1"/>
          <p:nvPr/>
        </p:nvSpPr>
        <p:spPr>
          <a:xfrm>
            <a:off x="1481328" y="1280160"/>
            <a:ext cx="164592" cy="566928"/>
          </a:xfrm>
          <a:prstGeom prst="rect">
            <a:avLst/>
          </a:prstGeom>
          <a:noFill/>
          <a:ln/>
        </p:spPr>
        <p:txBody>
          <a:bodyPr wrap="square" lIns="0" tIns="0" rIns="0" bIns="0" rtlCol="0" anchor="ctr"/>
          <a:lstStyle/>
          <a:p>
            <a:pPr algn="ctr" indent="0" marL="0">
              <a:buNone/>
            </a:pPr>
            <a:r>
              <a:rPr lang="en-US" sz="1600" dirty="0">
                <a:solidFill>
                  <a:srgbClr val="586661"/>
                </a:solidFill>
              </a:rPr>
              <a:t>›</a:t>
            </a:r>
            <a:endParaRPr lang="en-US" sz="1600" dirty="0"/>
          </a:p>
        </p:txBody>
      </p:sp>
      <p:sp>
        <p:nvSpPr>
          <p:cNvPr id="7" name="Shape 5"/>
          <p:cNvSpPr/>
          <p:nvPr/>
        </p:nvSpPr>
        <p:spPr>
          <a:xfrm>
            <a:off x="1645920" y="1280160"/>
            <a:ext cx="1024128" cy="566928"/>
          </a:xfrm>
          <a:prstGeom prst="roundRect">
            <a:avLst>
              <a:gd name="adj" fmla="val 11290"/>
            </a:avLst>
          </a:prstGeom>
          <a:solidFill>
            <a:srgbClr val="DDE8F7"/>
          </a:solidFill>
          <a:ln w="9525">
            <a:solidFill>
              <a:srgbClr val="1F4C8F"/>
            </a:solidFill>
            <a:prstDash val="solid"/>
          </a:ln>
        </p:spPr>
      </p:sp>
      <p:sp>
        <p:nvSpPr>
          <p:cNvPr id="8" name="Text 6"/>
          <p:cNvSpPr txBox="1"/>
          <p:nvPr/>
        </p:nvSpPr>
        <p:spPr>
          <a:xfrm>
            <a:off x="1645920" y="1280160"/>
            <a:ext cx="1024128" cy="566928"/>
          </a:xfrm>
          <a:prstGeom prst="rect">
            <a:avLst/>
          </a:prstGeom>
          <a:noFill/>
          <a:ln/>
        </p:spPr>
        <p:txBody>
          <a:bodyPr wrap="square" lIns="0" tIns="0" rIns="0" bIns="0" rtlCol="0" anchor="ctr"/>
          <a:lstStyle/>
          <a:p>
            <a:pPr algn="ctr" indent="0" marL="0">
              <a:buNone/>
            </a:pPr>
            <a:r>
              <a:rPr lang="en-US" sz="1200" b="1" dirty="0">
                <a:solidFill>
                  <a:srgbClr val="1F4C8F"/>
                </a:solidFill>
              </a:rPr>
              <a:t>CI</a:t>
            </a:r>
            <a:endParaRPr lang="en-US" sz="1200" dirty="0"/>
          </a:p>
          <a:p>
            <a:pPr algn="ctr" indent="0" marL="0">
              <a:buNone/>
            </a:pPr>
            <a:r>
              <a:rPr lang="en-US" sz="1000" dirty="0">
                <a:solidFill>
                  <a:srgbClr val="1F4C8F"/>
                </a:solidFill>
              </a:rPr>
              <a:t>root cause + fix</a:t>
            </a:r>
            <a:endParaRPr lang="en-US" sz="1200" dirty="0"/>
          </a:p>
        </p:txBody>
      </p:sp>
      <p:sp>
        <p:nvSpPr>
          <p:cNvPr id="9" name="Text 7"/>
          <p:cNvSpPr txBox="1"/>
          <p:nvPr/>
        </p:nvSpPr>
        <p:spPr>
          <a:xfrm>
            <a:off x="2670048" y="1280160"/>
            <a:ext cx="164592" cy="566928"/>
          </a:xfrm>
          <a:prstGeom prst="rect">
            <a:avLst/>
          </a:prstGeom>
          <a:noFill/>
          <a:ln/>
        </p:spPr>
        <p:txBody>
          <a:bodyPr wrap="square" lIns="0" tIns="0" rIns="0" bIns="0" rtlCol="0" anchor="ctr"/>
          <a:lstStyle/>
          <a:p>
            <a:pPr algn="ctr" indent="0" marL="0">
              <a:buNone/>
            </a:pPr>
            <a:r>
              <a:rPr lang="en-US" sz="1600" dirty="0">
                <a:solidFill>
                  <a:srgbClr val="586661"/>
                </a:solidFill>
              </a:rPr>
              <a:t>›</a:t>
            </a:r>
            <a:endParaRPr lang="en-US" sz="1600" dirty="0"/>
          </a:p>
        </p:txBody>
      </p:sp>
      <p:sp>
        <p:nvSpPr>
          <p:cNvPr id="10" name="Shape 8"/>
          <p:cNvSpPr/>
          <p:nvPr/>
        </p:nvSpPr>
        <p:spPr>
          <a:xfrm>
            <a:off x="2834640" y="1280160"/>
            <a:ext cx="1024128" cy="566928"/>
          </a:xfrm>
          <a:prstGeom prst="roundRect">
            <a:avLst>
              <a:gd name="adj" fmla="val 11290"/>
            </a:avLst>
          </a:prstGeom>
          <a:solidFill>
            <a:srgbClr val="F8DEDB"/>
          </a:solidFill>
          <a:ln w="9525">
            <a:solidFill>
              <a:srgbClr val="B3261E"/>
            </a:solidFill>
            <a:prstDash val="solid"/>
          </a:ln>
        </p:spPr>
      </p:sp>
      <p:sp>
        <p:nvSpPr>
          <p:cNvPr id="11" name="Text 9"/>
          <p:cNvSpPr txBox="1"/>
          <p:nvPr/>
        </p:nvSpPr>
        <p:spPr>
          <a:xfrm>
            <a:off x="2834640" y="1280160"/>
            <a:ext cx="1024128" cy="566928"/>
          </a:xfrm>
          <a:prstGeom prst="rect">
            <a:avLst/>
          </a:prstGeom>
          <a:noFill/>
          <a:ln/>
        </p:spPr>
        <p:txBody>
          <a:bodyPr wrap="square" lIns="0" tIns="0" rIns="0" bIns="0" rtlCol="0" anchor="ctr"/>
          <a:lstStyle/>
          <a:p>
            <a:pPr algn="ctr" indent="0" marL="0">
              <a:buNone/>
            </a:pPr>
            <a:r>
              <a:rPr lang="en-US" sz="1200" b="1" dirty="0">
                <a:solidFill>
                  <a:srgbClr val="B3261E"/>
                </a:solidFill>
              </a:rPr>
              <a:t>EE</a:t>
            </a:r>
            <a:endParaRPr lang="en-US" sz="1200" dirty="0"/>
          </a:p>
          <a:p>
            <a:pPr algn="ctr" indent="0" marL="0">
              <a:buNone/>
            </a:pPr>
            <a:r>
              <a:rPr lang="en-US" sz="1000" dirty="0">
                <a:solidFill>
                  <a:srgbClr val="B3261E"/>
                </a:solidFill>
              </a:rPr>
              <a:t>reject</a:t>
            </a:r>
            <a:endParaRPr lang="en-US" sz="1200" dirty="0"/>
          </a:p>
        </p:txBody>
      </p:sp>
      <p:sp>
        <p:nvSpPr>
          <p:cNvPr id="12" name="Text 10"/>
          <p:cNvSpPr txBox="1"/>
          <p:nvPr/>
        </p:nvSpPr>
        <p:spPr>
          <a:xfrm>
            <a:off x="3858768" y="1280160"/>
            <a:ext cx="164592" cy="566928"/>
          </a:xfrm>
          <a:prstGeom prst="rect">
            <a:avLst/>
          </a:prstGeom>
          <a:noFill/>
          <a:ln/>
        </p:spPr>
        <p:txBody>
          <a:bodyPr wrap="square" lIns="0" tIns="0" rIns="0" bIns="0" rtlCol="0" anchor="ctr"/>
          <a:lstStyle/>
          <a:p>
            <a:pPr algn="ctr" indent="0" marL="0">
              <a:buNone/>
            </a:pPr>
            <a:r>
              <a:rPr lang="en-US" sz="1600" dirty="0">
                <a:solidFill>
                  <a:srgbClr val="586661"/>
                </a:solidFill>
              </a:rPr>
              <a:t>›</a:t>
            </a:r>
            <a:endParaRPr lang="en-US" sz="1600" dirty="0"/>
          </a:p>
        </p:txBody>
      </p:sp>
      <p:sp>
        <p:nvSpPr>
          <p:cNvPr id="13" name="Shape 11"/>
          <p:cNvSpPr/>
          <p:nvPr/>
        </p:nvSpPr>
        <p:spPr>
          <a:xfrm>
            <a:off x="4023360" y="1280160"/>
            <a:ext cx="1024128" cy="566928"/>
          </a:xfrm>
          <a:prstGeom prst="roundRect">
            <a:avLst>
              <a:gd name="adj" fmla="val 11290"/>
            </a:avLst>
          </a:prstGeom>
          <a:solidFill>
            <a:srgbClr val="DDE8F7"/>
          </a:solidFill>
          <a:ln w="9525">
            <a:solidFill>
              <a:srgbClr val="1F4C8F"/>
            </a:solidFill>
            <a:prstDash val="solid"/>
          </a:ln>
        </p:spPr>
      </p:sp>
      <p:sp>
        <p:nvSpPr>
          <p:cNvPr id="14" name="Text 12"/>
          <p:cNvSpPr txBox="1"/>
          <p:nvPr/>
        </p:nvSpPr>
        <p:spPr>
          <a:xfrm>
            <a:off x="4023360" y="1280160"/>
            <a:ext cx="1024128" cy="566928"/>
          </a:xfrm>
          <a:prstGeom prst="rect">
            <a:avLst/>
          </a:prstGeom>
          <a:noFill/>
          <a:ln/>
        </p:spPr>
        <p:txBody>
          <a:bodyPr wrap="square" lIns="0" tIns="0" rIns="0" bIns="0" rtlCol="0" anchor="ctr"/>
          <a:lstStyle/>
          <a:p>
            <a:pPr algn="ctr" indent="0" marL="0">
              <a:buNone/>
            </a:pPr>
            <a:r>
              <a:rPr lang="en-US" sz="1200" b="1" dirty="0">
                <a:solidFill>
                  <a:srgbClr val="1F4C8F"/>
                </a:solidFill>
              </a:rPr>
              <a:t>CI</a:t>
            </a:r>
            <a:endParaRPr lang="en-US" sz="1200" dirty="0"/>
          </a:p>
          <a:p>
            <a:pPr algn="ctr" indent="0" marL="0">
              <a:buNone/>
            </a:pPr>
            <a:r>
              <a:rPr lang="en-US" sz="1000" dirty="0">
                <a:solidFill>
                  <a:srgbClr val="1F4C8F"/>
                </a:solidFill>
              </a:rPr>
              <a:t>resubmit</a:t>
            </a:r>
            <a:endParaRPr lang="en-US" sz="1200" dirty="0"/>
          </a:p>
        </p:txBody>
      </p:sp>
      <p:sp>
        <p:nvSpPr>
          <p:cNvPr id="15" name="Text 13"/>
          <p:cNvSpPr txBox="1"/>
          <p:nvPr/>
        </p:nvSpPr>
        <p:spPr>
          <a:xfrm>
            <a:off x="5047488" y="1280160"/>
            <a:ext cx="164592" cy="566928"/>
          </a:xfrm>
          <a:prstGeom prst="rect">
            <a:avLst/>
          </a:prstGeom>
          <a:noFill/>
          <a:ln/>
        </p:spPr>
        <p:txBody>
          <a:bodyPr wrap="square" lIns="0" tIns="0" rIns="0" bIns="0" rtlCol="0" anchor="ctr"/>
          <a:lstStyle/>
          <a:p>
            <a:pPr algn="ctr" indent="0" marL="0">
              <a:buNone/>
            </a:pPr>
            <a:r>
              <a:rPr lang="en-US" sz="1600" dirty="0">
                <a:solidFill>
                  <a:srgbClr val="586661"/>
                </a:solidFill>
              </a:rPr>
              <a:t>›</a:t>
            </a:r>
            <a:endParaRPr lang="en-US" sz="1600" dirty="0"/>
          </a:p>
        </p:txBody>
      </p:sp>
      <p:sp>
        <p:nvSpPr>
          <p:cNvPr id="16" name="Shape 14"/>
          <p:cNvSpPr/>
          <p:nvPr/>
        </p:nvSpPr>
        <p:spPr>
          <a:xfrm>
            <a:off x="5212080" y="1280160"/>
            <a:ext cx="1024128" cy="566928"/>
          </a:xfrm>
          <a:prstGeom prst="roundRect">
            <a:avLst>
              <a:gd name="adj" fmla="val 11290"/>
            </a:avLst>
          </a:prstGeom>
          <a:solidFill>
            <a:srgbClr val="DFF1E4"/>
          </a:solidFill>
          <a:ln w="9525">
            <a:solidFill>
              <a:srgbClr val="1F7A3D"/>
            </a:solidFill>
            <a:prstDash val="solid"/>
          </a:ln>
        </p:spPr>
      </p:sp>
      <p:sp>
        <p:nvSpPr>
          <p:cNvPr id="17" name="Text 15"/>
          <p:cNvSpPr txBox="1"/>
          <p:nvPr/>
        </p:nvSpPr>
        <p:spPr>
          <a:xfrm>
            <a:off x="5212080" y="1280160"/>
            <a:ext cx="1024128" cy="566928"/>
          </a:xfrm>
          <a:prstGeom prst="rect">
            <a:avLst/>
          </a:prstGeom>
          <a:noFill/>
          <a:ln/>
        </p:spPr>
        <p:txBody>
          <a:bodyPr wrap="square" lIns="0" tIns="0" rIns="0" bIns="0" rtlCol="0" anchor="ctr"/>
          <a:lstStyle/>
          <a:p>
            <a:pPr algn="ctr" indent="0" marL="0">
              <a:buNone/>
            </a:pPr>
            <a:r>
              <a:rPr lang="en-US" sz="1200" b="1" dirty="0">
                <a:solidFill>
                  <a:srgbClr val="1F7A3D"/>
                </a:solidFill>
              </a:rPr>
              <a:t>EE</a:t>
            </a:r>
            <a:endParaRPr lang="en-US" sz="1200" dirty="0"/>
          </a:p>
          <a:p>
            <a:pPr algn="ctr" indent="0" marL="0">
              <a:buNone/>
            </a:pPr>
            <a:r>
              <a:rPr lang="en-US" sz="1000" dirty="0">
                <a:solidFill>
                  <a:srgbClr val="1F7A3D"/>
                </a:solidFill>
              </a:rPr>
              <a:t>approve</a:t>
            </a:r>
            <a:endParaRPr lang="en-US" sz="1200" dirty="0"/>
          </a:p>
        </p:txBody>
      </p:sp>
      <p:sp>
        <p:nvSpPr>
          <p:cNvPr id="18" name="Text 16"/>
          <p:cNvSpPr txBox="1"/>
          <p:nvPr/>
        </p:nvSpPr>
        <p:spPr>
          <a:xfrm>
            <a:off x="6236208" y="1280160"/>
            <a:ext cx="164592" cy="566928"/>
          </a:xfrm>
          <a:prstGeom prst="rect">
            <a:avLst/>
          </a:prstGeom>
          <a:noFill/>
          <a:ln/>
        </p:spPr>
        <p:txBody>
          <a:bodyPr wrap="square" lIns="0" tIns="0" rIns="0" bIns="0" rtlCol="0" anchor="ctr"/>
          <a:lstStyle/>
          <a:p>
            <a:pPr algn="ctr" indent="0" marL="0">
              <a:buNone/>
            </a:pPr>
            <a:r>
              <a:rPr lang="en-US" sz="1600" dirty="0">
                <a:solidFill>
                  <a:srgbClr val="586661"/>
                </a:solidFill>
              </a:rPr>
              <a:t>›</a:t>
            </a:r>
            <a:endParaRPr lang="en-US" sz="1600" dirty="0"/>
          </a:p>
        </p:txBody>
      </p:sp>
      <p:sp>
        <p:nvSpPr>
          <p:cNvPr id="19" name="Shape 17"/>
          <p:cNvSpPr/>
          <p:nvPr/>
        </p:nvSpPr>
        <p:spPr>
          <a:xfrm>
            <a:off x="6400800" y="1280160"/>
            <a:ext cx="1024128" cy="566928"/>
          </a:xfrm>
          <a:prstGeom prst="roundRect">
            <a:avLst>
              <a:gd name="adj" fmla="val 11290"/>
            </a:avLst>
          </a:prstGeom>
          <a:solidFill>
            <a:srgbClr val="DFF1E4"/>
          </a:solidFill>
          <a:ln w="9525">
            <a:solidFill>
              <a:srgbClr val="1F7A3D"/>
            </a:solidFill>
            <a:prstDash val="solid"/>
          </a:ln>
        </p:spPr>
      </p:sp>
      <p:sp>
        <p:nvSpPr>
          <p:cNvPr id="20" name="Text 18"/>
          <p:cNvSpPr txBox="1"/>
          <p:nvPr/>
        </p:nvSpPr>
        <p:spPr>
          <a:xfrm>
            <a:off x="6400800" y="1280160"/>
            <a:ext cx="1024128" cy="566928"/>
          </a:xfrm>
          <a:prstGeom prst="rect">
            <a:avLst/>
          </a:prstGeom>
          <a:noFill/>
          <a:ln/>
        </p:spPr>
        <p:txBody>
          <a:bodyPr wrap="square" lIns="0" tIns="0" rIns="0" bIns="0" rtlCol="0" anchor="ctr"/>
          <a:lstStyle/>
          <a:p>
            <a:pPr algn="ctr" indent="0" marL="0">
              <a:buNone/>
            </a:pPr>
            <a:r>
              <a:rPr lang="en-US" sz="1200" b="1" dirty="0">
                <a:solidFill>
                  <a:srgbClr val="1F7A3D"/>
                </a:solidFill>
              </a:rPr>
              <a:t>QI</a:t>
            </a:r>
            <a:endParaRPr lang="en-US" sz="1200" dirty="0"/>
          </a:p>
          <a:p>
            <a:pPr algn="ctr" indent="0" marL="0">
              <a:buNone/>
            </a:pPr>
            <a:r>
              <a:rPr lang="en-US" sz="1000" dirty="0">
                <a:solidFill>
                  <a:srgbClr val="1F7A3D"/>
                </a:solidFill>
              </a:rPr>
              <a:t>close</a:t>
            </a:r>
            <a:endParaRPr lang="en-US" sz="1200" dirty="0"/>
          </a:p>
        </p:txBody>
      </p:sp>
      <p:sp>
        <p:nvSpPr>
          <p:cNvPr id="21" name="card Who creates"/>
          <p:cNvSpPr/>
          <p:nvPr/>
        </p:nvSpPr>
        <p:spPr>
          <a:xfrm>
            <a:off x="457200" y="2286000"/>
            <a:ext cx="2606040" cy="2148840"/>
          </a:xfrm>
          <a:prstGeom prst="roundRect">
            <a:avLst>
              <a:gd name="adj" fmla="val 3404"/>
            </a:avLst>
          </a:prstGeom>
          <a:solidFill>
            <a:srgbClr val="EEF3F0"/>
          </a:solidFill>
          <a:ln w="9525">
            <a:solidFill>
              <a:srgbClr val="D3DAD5"/>
            </a:solidFill>
            <a:prstDash val="solid"/>
          </a:ln>
        </p:spPr>
      </p:sp>
      <p:sp>
        <p:nvSpPr>
          <p:cNvPr id="22" name="Text 20"/>
          <p:cNvSpPr txBox="1"/>
          <p:nvPr/>
        </p:nvSpPr>
        <p:spPr>
          <a:xfrm>
            <a:off x="621792" y="2395728"/>
            <a:ext cx="2276856" cy="320040"/>
          </a:xfrm>
          <a:prstGeom prst="rect">
            <a:avLst/>
          </a:prstGeom>
          <a:noFill/>
          <a:ln/>
        </p:spPr>
        <p:txBody>
          <a:bodyPr wrap="square" lIns="0" tIns="0" rIns="0" bIns="0" rtlCol="0" anchor="t"/>
          <a:lstStyle/>
          <a:p>
            <a:pPr indent="0" marL="0">
              <a:buNone/>
            </a:pPr>
            <a:r>
              <a:rPr lang="en-US" sz="1600" b="1" dirty="0">
                <a:solidFill>
                  <a:srgbClr val="0B3D36"/>
                </a:solidFill>
                <a:latin typeface="Cambria" pitchFamily="34" charset="0"/>
                <a:ea typeface="Cambria" pitchFamily="34" charset="-122"/>
                <a:cs typeface="Cambria" pitchFamily="34" charset="-120"/>
              </a:rPr>
              <a:t>Who creates</a:t>
            </a:r>
            <a:endParaRPr lang="en-US" sz="1600" dirty="0"/>
          </a:p>
        </p:txBody>
      </p:sp>
      <p:sp>
        <p:nvSpPr>
          <p:cNvPr id="23" name="Text 21"/>
          <p:cNvSpPr txBox="1"/>
          <p:nvPr/>
        </p:nvSpPr>
        <p:spPr>
          <a:xfrm>
            <a:off x="621792" y="2761488"/>
            <a:ext cx="2276856" cy="1581912"/>
          </a:xfrm>
          <a:prstGeom prst="rect">
            <a:avLst/>
          </a:prstGeom>
          <a:noFill/>
          <a:ln/>
        </p:spPr>
        <p:txBody>
          <a:bodyPr wrap="square" lIns="0" tIns="0" rIns="0" bIns="0" rtlCol="0" anchor="t"/>
          <a:lstStyle/>
          <a:p>
            <a:pPr indent="0" marL="0">
              <a:spcAft>
                <a:spcPts val="400"/>
              </a:spcAft>
              <a:buNone/>
            </a:pPr>
            <a:r>
              <a:rPr lang="en-US" sz="1300" dirty="0">
                <a:solidFill>
                  <a:srgbClr val="16201D"/>
                </a:solidFill>
              </a:rPr>
              <a:t>QI, EE, PM, EL and QL. Only QI can save a draft.</a:t>
            </a:r>
            <a:endParaRPr lang="en-US" sz="1300" dirty="0"/>
          </a:p>
        </p:txBody>
      </p:sp>
      <p:sp>
        <p:nvSpPr>
          <p:cNvPr id="24" name="card One reject toggle"/>
          <p:cNvSpPr/>
          <p:nvPr/>
        </p:nvSpPr>
        <p:spPr>
          <a:xfrm>
            <a:off x="3268980" y="2286000"/>
            <a:ext cx="2606040" cy="2148840"/>
          </a:xfrm>
          <a:prstGeom prst="roundRect">
            <a:avLst>
              <a:gd name="adj" fmla="val 3404"/>
            </a:avLst>
          </a:prstGeom>
          <a:solidFill>
            <a:srgbClr val="EEF3F0"/>
          </a:solidFill>
          <a:ln w="9525">
            <a:solidFill>
              <a:srgbClr val="D3DAD5"/>
            </a:solidFill>
            <a:prstDash val="solid"/>
          </a:ln>
        </p:spPr>
      </p:sp>
      <p:sp>
        <p:nvSpPr>
          <p:cNvPr id="25" name="Text 23"/>
          <p:cNvSpPr txBox="1"/>
          <p:nvPr/>
        </p:nvSpPr>
        <p:spPr>
          <a:xfrm>
            <a:off x="3433572" y="2395728"/>
            <a:ext cx="2276856" cy="320040"/>
          </a:xfrm>
          <a:prstGeom prst="rect">
            <a:avLst/>
          </a:prstGeom>
          <a:noFill/>
          <a:ln/>
        </p:spPr>
        <p:txBody>
          <a:bodyPr wrap="square" lIns="0" tIns="0" rIns="0" bIns="0" rtlCol="0" anchor="t"/>
          <a:lstStyle/>
          <a:p>
            <a:pPr indent="0" marL="0">
              <a:buNone/>
            </a:pPr>
            <a:r>
              <a:rPr lang="en-US" sz="1600" b="1" dirty="0">
                <a:solidFill>
                  <a:srgbClr val="0B3D36"/>
                </a:solidFill>
                <a:latin typeface="Cambria" pitchFamily="34" charset="0"/>
                <a:ea typeface="Cambria" pitchFamily="34" charset="-122"/>
                <a:cs typeface="Cambria" pitchFamily="34" charset="-120"/>
              </a:rPr>
              <a:t>One reject toggle</a:t>
            </a:r>
            <a:endParaRPr lang="en-US" sz="1600" dirty="0"/>
          </a:p>
        </p:txBody>
      </p:sp>
      <p:sp>
        <p:nvSpPr>
          <p:cNvPr id="26" name="Text 24"/>
          <p:cNvSpPr txBox="1"/>
          <p:nvPr/>
        </p:nvSpPr>
        <p:spPr>
          <a:xfrm>
            <a:off x="3433572" y="2761488"/>
            <a:ext cx="2276856" cy="1581912"/>
          </a:xfrm>
          <a:prstGeom prst="rect">
            <a:avLst/>
          </a:prstGeom>
          <a:noFill/>
          <a:ln/>
        </p:spPr>
        <p:txBody>
          <a:bodyPr wrap="square" lIns="0" tIns="0" rIns="0" bIns="0" rtlCol="0" anchor="t"/>
          <a:lstStyle/>
          <a:p>
            <a:pPr indent="0" marL="0">
              <a:spcAft>
                <a:spcPts val="400"/>
              </a:spcAft>
              <a:buNone/>
            </a:pPr>
            <a:r>
              <a:rPr lang="en-US" sz="1300" dirty="0">
                <a:solidFill>
                  <a:srgbClr val="16201D"/>
                </a:solidFill>
              </a:rPr>
              <a:t>A single OK or Not OK choice on review, opening as OK. EE and QI tick an acknowledgement.</a:t>
            </a:r>
            <a:endParaRPr lang="en-US" sz="1300" dirty="0"/>
          </a:p>
        </p:txBody>
      </p:sp>
      <p:sp>
        <p:nvSpPr>
          <p:cNvPr id="27" name="card Mandatory on create"/>
          <p:cNvSpPr/>
          <p:nvPr/>
        </p:nvSpPr>
        <p:spPr>
          <a:xfrm>
            <a:off x="6080760" y="2286000"/>
            <a:ext cx="2606040" cy="2148840"/>
          </a:xfrm>
          <a:prstGeom prst="roundRect">
            <a:avLst>
              <a:gd name="adj" fmla="val 3404"/>
            </a:avLst>
          </a:prstGeom>
          <a:solidFill>
            <a:srgbClr val="EEF3F0"/>
          </a:solidFill>
          <a:ln w="9525">
            <a:solidFill>
              <a:srgbClr val="D3DAD5"/>
            </a:solidFill>
            <a:prstDash val="solid"/>
          </a:ln>
        </p:spPr>
      </p:sp>
      <p:sp>
        <p:nvSpPr>
          <p:cNvPr id="28" name="Text 26"/>
          <p:cNvSpPr txBox="1"/>
          <p:nvPr/>
        </p:nvSpPr>
        <p:spPr>
          <a:xfrm>
            <a:off x="6245352" y="2395728"/>
            <a:ext cx="2276856" cy="320040"/>
          </a:xfrm>
          <a:prstGeom prst="rect">
            <a:avLst/>
          </a:prstGeom>
          <a:noFill/>
          <a:ln/>
        </p:spPr>
        <p:txBody>
          <a:bodyPr wrap="square" lIns="0" tIns="0" rIns="0" bIns="0" rtlCol="0" anchor="t"/>
          <a:lstStyle/>
          <a:p>
            <a:pPr indent="0" marL="0">
              <a:buNone/>
            </a:pPr>
            <a:r>
              <a:rPr lang="en-US" sz="1600" b="1" dirty="0">
                <a:solidFill>
                  <a:srgbClr val="0B3D36"/>
                </a:solidFill>
                <a:latin typeface="Cambria" pitchFamily="34" charset="0"/>
                <a:ea typeface="Cambria" pitchFamily="34" charset="-122"/>
                <a:cs typeface="Cambria" pitchFamily="34" charset="-120"/>
              </a:rPr>
              <a:t>Mandatory on create</a:t>
            </a:r>
            <a:endParaRPr lang="en-US" sz="1600" dirty="0"/>
          </a:p>
        </p:txBody>
      </p:sp>
      <p:sp>
        <p:nvSpPr>
          <p:cNvPr id="29" name="Text 27"/>
          <p:cNvSpPr txBox="1"/>
          <p:nvPr/>
        </p:nvSpPr>
        <p:spPr>
          <a:xfrm>
            <a:off x="6245352" y="2761488"/>
            <a:ext cx="2276856" cy="1581912"/>
          </a:xfrm>
          <a:prstGeom prst="rect">
            <a:avLst/>
          </a:prstGeom>
          <a:noFill/>
          <a:ln/>
        </p:spPr>
        <p:txBody>
          <a:bodyPr wrap="square" lIns="0" tIns="0" rIns="0" bIns="0" rtlCol="0" anchor="t"/>
          <a:lstStyle/>
          <a:p>
            <a:pPr indent="0" marL="0">
              <a:spcAft>
                <a:spcPts val="400"/>
              </a:spcAft>
              <a:buNone/>
            </a:pPr>
            <a:r>
              <a:rPr lang="en-US" sz="1300" dirty="0">
                <a:solidFill>
                  <a:srgbClr val="16201D"/>
                </a:solidFill>
              </a:rPr>
              <a:t>Target Date for Closure, a captured photo, and a Defect Type from a list driven by location and activity.</a:t>
            </a:r>
            <a:endParaRPr lang="en-US" sz="13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86661"/>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B3D36"/>
                </a:solidFill>
                <a:latin typeface="Cambria" pitchFamily="34" charset="0"/>
                <a:ea typeface="Cambria" pitchFamily="34" charset="-122"/>
                <a:cs typeface="Cambria" pitchFamily="34" charset="-120"/>
              </a:rPr>
              <a:t>Where RFI and NC meet</a:t>
            </a:r>
            <a:endParaRPr lang="en-US" sz="3000" dirty="0"/>
          </a:p>
        </p:txBody>
      </p:sp>
      <p:sp>
        <p:nvSpPr>
          <p:cNvPr id="3" name="card Raise NC from an RFI"/>
          <p:cNvSpPr/>
          <p:nvPr/>
        </p:nvSpPr>
        <p:spPr>
          <a:xfrm>
            <a:off x="457200" y="1051560"/>
            <a:ext cx="3977640" cy="2011680"/>
          </a:xfrm>
          <a:prstGeom prst="roundRect">
            <a:avLst>
              <a:gd name="adj" fmla="val 3636"/>
            </a:avLst>
          </a:prstGeom>
          <a:solidFill>
            <a:srgbClr val="EEF3F0"/>
          </a:solidFill>
          <a:ln w="9525">
            <a:solidFill>
              <a:srgbClr val="D3DAD5"/>
            </a:solidFill>
            <a:prstDash val="solid"/>
          </a:ln>
        </p:spPr>
      </p:sp>
      <p:sp>
        <p:nvSpPr>
          <p:cNvPr id="4" name="Text 2"/>
          <p:cNvSpPr txBox="1"/>
          <p:nvPr/>
        </p:nvSpPr>
        <p:spPr>
          <a:xfrm>
            <a:off x="621792" y="1161288"/>
            <a:ext cx="3648456" cy="320040"/>
          </a:xfrm>
          <a:prstGeom prst="rect">
            <a:avLst/>
          </a:prstGeom>
          <a:noFill/>
          <a:ln/>
        </p:spPr>
        <p:txBody>
          <a:bodyPr wrap="square" lIns="0" tIns="0" rIns="0" bIns="0" rtlCol="0" anchor="t"/>
          <a:lstStyle/>
          <a:p>
            <a:pPr indent="0" marL="0">
              <a:buNone/>
            </a:pPr>
            <a:r>
              <a:rPr lang="en-US" sz="1600" b="1" dirty="0">
                <a:solidFill>
                  <a:srgbClr val="0B3D36"/>
                </a:solidFill>
                <a:latin typeface="Cambria" pitchFamily="34" charset="0"/>
                <a:ea typeface="Cambria" pitchFamily="34" charset="-122"/>
                <a:cs typeface="Cambria" pitchFamily="34" charset="-120"/>
              </a:rPr>
              <a:t>Raise NC from an RFI</a:t>
            </a:r>
            <a:endParaRPr lang="en-US" sz="1600" dirty="0"/>
          </a:p>
        </p:txBody>
      </p:sp>
      <p:sp>
        <p:nvSpPr>
          <p:cNvPr id="5" name="Text 3"/>
          <p:cNvSpPr txBox="1"/>
          <p:nvPr/>
        </p:nvSpPr>
        <p:spPr>
          <a:xfrm>
            <a:off x="621792" y="1527048"/>
            <a:ext cx="3648456" cy="1444752"/>
          </a:xfrm>
          <a:prstGeom prst="rect">
            <a:avLst/>
          </a:prstGeom>
          <a:noFill/>
          <a:ln/>
        </p:spPr>
        <p:txBody>
          <a:bodyPr wrap="square" lIns="0" tIns="0" rIns="0" bIns="0" rtlCol="0" anchor="t"/>
          <a:lstStyle/>
          <a:p>
            <a:pPr indent="0" marL="0">
              <a:spcAft>
                <a:spcPts val="400"/>
              </a:spcAft>
              <a:buNone/>
            </a:pPr>
            <a:r>
              <a:rPr lang="en-US" sz="1300" dirty="0">
                <a:solidFill>
                  <a:srgbClr val="16201D"/>
                </a:solidFill>
              </a:rPr>
              <a:t>While reviewing a checklist, QI marks an item Not OK and ticks Raise NC. The RFI is rejected together with an NC linked to that item.</a:t>
            </a:r>
            <a:endParaRPr lang="en-US" sz="1300" dirty="0"/>
          </a:p>
        </p:txBody>
      </p:sp>
      <p:sp>
        <p:nvSpPr>
          <p:cNvPr id="6" name="card The resubmit gate"/>
          <p:cNvSpPr/>
          <p:nvPr/>
        </p:nvSpPr>
        <p:spPr>
          <a:xfrm>
            <a:off x="4709160" y="1051560"/>
            <a:ext cx="3977640" cy="2011680"/>
          </a:xfrm>
          <a:prstGeom prst="roundRect">
            <a:avLst>
              <a:gd name="adj" fmla="val 3636"/>
            </a:avLst>
          </a:prstGeom>
          <a:solidFill>
            <a:srgbClr val="EEF3F0"/>
          </a:solidFill>
          <a:ln w="9525">
            <a:solidFill>
              <a:srgbClr val="D3DAD5"/>
            </a:solidFill>
            <a:prstDash val="solid"/>
          </a:ln>
        </p:spPr>
      </p:sp>
      <p:sp>
        <p:nvSpPr>
          <p:cNvPr id="7" name="Text 5"/>
          <p:cNvSpPr txBox="1"/>
          <p:nvPr/>
        </p:nvSpPr>
        <p:spPr>
          <a:xfrm>
            <a:off x="4873752" y="1161288"/>
            <a:ext cx="3648456" cy="320040"/>
          </a:xfrm>
          <a:prstGeom prst="rect">
            <a:avLst/>
          </a:prstGeom>
          <a:noFill/>
          <a:ln/>
        </p:spPr>
        <p:txBody>
          <a:bodyPr wrap="square" lIns="0" tIns="0" rIns="0" bIns="0" rtlCol="0" anchor="t"/>
          <a:lstStyle/>
          <a:p>
            <a:pPr indent="0" marL="0">
              <a:buNone/>
            </a:pPr>
            <a:r>
              <a:rPr lang="en-US" sz="1600" b="1" dirty="0">
                <a:solidFill>
                  <a:srgbClr val="0B3D36"/>
                </a:solidFill>
                <a:latin typeface="Cambria" pitchFamily="34" charset="0"/>
                <a:ea typeface="Cambria" pitchFamily="34" charset="-122"/>
                <a:cs typeface="Cambria" pitchFamily="34" charset="-120"/>
              </a:rPr>
              <a:t>The resubmit gate</a:t>
            </a:r>
            <a:endParaRPr lang="en-US" sz="1600" dirty="0"/>
          </a:p>
        </p:txBody>
      </p:sp>
      <p:sp>
        <p:nvSpPr>
          <p:cNvPr id="8" name="Text 6"/>
          <p:cNvSpPr txBox="1"/>
          <p:nvPr/>
        </p:nvSpPr>
        <p:spPr>
          <a:xfrm>
            <a:off x="4873752" y="1527048"/>
            <a:ext cx="3648456" cy="1444752"/>
          </a:xfrm>
          <a:prstGeom prst="rect">
            <a:avLst/>
          </a:prstGeom>
          <a:noFill/>
          <a:ln/>
        </p:spPr>
        <p:txBody>
          <a:bodyPr wrap="square" lIns="0" tIns="0" rIns="0" bIns="0" rtlCol="0" anchor="t"/>
          <a:lstStyle/>
          <a:p>
            <a:pPr indent="0" marL="0">
              <a:spcAft>
                <a:spcPts val="400"/>
              </a:spcAft>
              <a:buNone/>
            </a:pPr>
            <a:r>
              <a:rPr lang="en-US" sz="1300" dirty="0">
                <a:solidFill>
                  <a:srgbClr val="16201D"/>
                </a:solidFill>
              </a:rPr>
              <a:t>CI can open the RFI but cannot submit until every linked NC is approved by EE and QI. A rejected NC keeps the gate shut.</a:t>
            </a:r>
            <a:endParaRPr lang="en-US" sz="1300" dirty="0"/>
          </a:p>
        </p:txBody>
      </p:sp>
      <p:sp>
        <p:nvSpPr>
          <p:cNvPr id="9" name="card A pending NC also blocks new RFIs"/>
          <p:cNvSpPr/>
          <p:nvPr/>
        </p:nvSpPr>
        <p:spPr>
          <a:xfrm>
            <a:off x="457200" y="3246120"/>
            <a:ext cx="8229600" cy="1188720"/>
          </a:xfrm>
          <a:prstGeom prst="roundRect">
            <a:avLst>
              <a:gd name="adj" fmla="val 6154"/>
            </a:avLst>
          </a:prstGeom>
          <a:solidFill>
            <a:srgbClr val="FBECCD"/>
          </a:solidFill>
          <a:ln w="9525">
            <a:solidFill>
              <a:srgbClr val="E8C98A"/>
            </a:solidFill>
            <a:prstDash val="solid"/>
          </a:ln>
        </p:spPr>
      </p:sp>
      <p:sp>
        <p:nvSpPr>
          <p:cNvPr id="10" name="Text 8"/>
          <p:cNvSpPr txBox="1"/>
          <p:nvPr/>
        </p:nvSpPr>
        <p:spPr>
          <a:xfrm>
            <a:off x="621792" y="3355848"/>
            <a:ext cx="7900416" cy="320040"/>
          </a:xfrm>
          <a:prstGeom prst="rect">
            <a:avLst/>
          </a:prstGeom>
          <a:noFill/>
          <a:ln/>
        </p:spPr>
        <p:txBody>
          <a:bodyPr wrap="square" lIns="0" tIns="0" rIns="0" bIns="0" rtlCol="0" anchor="t"/>
          <a:lstStyle/>
          <a:p>
            <a:pPr indent="0" marL="0">
              <a:buNone/>
            </a:pPr>
            <a:r>
              <a:rPr lang="en-US" sz="1600" b="1" dirty="0">
                <a:solidFill>
                  <a:srgbClr val="8A5200"/>
                </a:solidFill>
                <a:latin typeface="Cambria" pitchFamily="34" charset="0"/>
                <a:ea typeface="Cambria" pitchFamily="34" charset="-122"/>
                <a:cs typeface="Cambria" pitchFamily="34" charset="-120"/>
              </a:rPr>
              <a:t>A pending NC also blocks new RFIs</a:t>
            </a:r>
            <a:endParaRPr lang="en-US" sz="1600" dirty="0"/>
          </a:p>
        </p:txBody>
      </p:sp>
      <p:sp>
        <p:nvSpPr>
          <p:cNvPr id="11" name="Text 9"/>
          <p:cNvSpPr txBox="1"/>
          <p:nvPr/>
        </p:nvSpPr>
        <p:spPr>
          <a:xfrm>
            <a:off x="621792" y="3721608"/>
            <a:ext cx="7900416" cy="621792"/>
          </a:xfrm>
          <a:prstGeom prst="rect">
            <a:avLst/>
          </a:prstGeom>
          <a:noFill/>
          <a:ln/>
        </p:spPr>
        <p:txBody>
          <a:bodyPr wrap="square" lIns="0" tIns="0" rIns="0" bIns="0" rtlCol="0" anchor="t"/>
          <a:lstStyle/>
          <a:p>
            <a:pPr indent="0" marL="0">
              <a:spcAft>
                <a:spcPts val="400"/>
              </a:spcAft>
              <a:buNone/>
            </a:pPr>
            <a:r>
              <a:rPr lang="en-US" sz="1300" dirty="0">
                <a:solidFill>
                  <a:srgbClr val="16201D"/>
                </a:solidFill>
              </a:rPr>
              <a:t>No new RFI can be created for the same inspection checkpoint and work section until that NC is approved.</a:t>
            </a:r>
            <a:endParaRPr lang="en-US" sz="13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86661"/>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B3D36"/>
                </a:solidFill>
                <a:latin typeface="Cambria" pitchFamily="34" charset="0"/>
                <a:ea typeface="Cambria" pitchFamily="34" charset="-122"/>
                <a:cs typeface="Cambria" pitchFamily="34" charset="-120"/>
              </a:rPr>
              <a:t>The activity catalog, top to bottom</a:t>
            </a:r>
            <a:endParaRPr lang="en-US" sz="3000" dirty="0"/>
          </a:p>
        </p:txBody>
      </p:sp>
      <p:sp>
        <p:nvSpPr>
          <p:cNvPr id="3" name="card PACKAGE"/>
          <p:cNvSpPr/>
          <p:nvPr/>
        </p:nvSpPr>
        <p:spPr>
          <a:xfrm>
            <a:off x="457200" y="1097280"/>
            <a:ext cx="2560320" cy="1234440"/>
          </a:xfrm>
          <a:prstGeom prst="roundRect">
            <a:avLst>
              <a:gd name="adj" fmla="val 5926"/>
            </a:avLst>
          </a:prstGeom>
          <a:solidFill>
            <a:srgbClr val="EEF3F0"/>
          </a:solidFill>
          <a:ln w="9525">
            <a:solidFill>
              <a:srgbClr val="D3DAD5"/>
            </a:solidFill>
            <a:prstDash val="solid"/>
          </a:ln>
        </p:spPr>
      </p:sp>
      <p:sp>
        <p:nvSpPr>
          <p:cNvPr id="4" name="Text 2"/>
          <p:cNvSpPr txBox="1"/>
          <p:nvPr/>
        </p:nvSpPr>
        <p:spPr>
          <a:xfrm>
            <a:off x="621792" y="1207008"/>
            <a:ext cx="2231136" cy="320040"/>
          </a:xfrm>
          <a:prstGeom prst="rect">
            <a:avLst/>
          </a:prstGeom>
          <a:noFill/>
          <a:ln/>
        </p:spPr>
        <p:txBody>
          <a:bodyPr wrap="square" lIns="0" tIns="0" rIns="0" bIns="0" rtlCol="0" anchor="t"/>
          <a:lstStyle/>
          <a:p>
            <a:pPr indent="0" marL="0">
              <a:buNone/>
            </a:pPr>
            <a:r>
              <a:rPr lang="en-US" sz="1100" b="1" dirty="0">
                <a:solidFill>
                  <a:srgbClr val="586661"/>
                </a:solidFill>
                <a:latin typeface="Cambria" pitchFamily="34" charset="0"/>
                <a:ea typeface="Cambria" pitchFamily="34" charset="-122"/>
                <a:cs typeface="Cambria" pitchFamily="34" charset="-120"/>
              </a:rPr>
              <a:t>PACKAGE</a:t>
            </a:r>
            <a:endParaRPr lang="en-US" sz="1100" dirty="0"/>
          </a:p>
        </p:txBody>
      </p:sp>
      <p:sp>
        <p:nvSpPr>
          <p:cNvPr id="5" name="Text 3"/>
          <p:cNvSpPr txBox="1"/>
          <p:nvPr/>
        </p:nvSpPr>
        <p:spPr>
          <a:xfrm>
            <a:off x="621792" y="1572768"/>
            <a:ext cx="2231136" cy="667512"/>
          </a:xfrm>
          <a:prstGeom prst="rect">
            <a:avLst/>
          </a:prstGeom>
          <a:noFill/>
          <a:ln/>
        </p:spPr>
        <p:txBody>
          <a:bodyPr wrap="square" lIns="0" tIns="0" rIns="0" bIns="0" rtlCol="0" anchor="t"/>
          <a:lstStyle/>
          <a:p>
            <a:pPr indent="0" marL="0">
              <a:spcAft>
                <a:spcPts val="400"/>
              </a:spcAft>
              <a:buNone/>
            </a:pPr>
            <a:r>
              <a:rPr lang="en-US" sz="1500" dirty="0">
                <a:solidFill>
                  <a:srgbClr val="16201D"/>
                </a:solidFill>
              </a:rPr>
              <a:t>Civil</a:t>
            </a:r>
            <a:endParaRPr lang="en-US" sz="1500" dirty="0"/>
          </a:p>
        </p:txBody>
      </p:sp>
      <p:sp>
        <p:nvSpPr>
          <p:cNvPr id="6" name="card SUB-PACKAGE"/>
          <p:cNvSpPr/>
          <p:nvPr/>
        </p:nvSpPr>
        <p:spPr>
          <a:xfrm>
            <a:off x="3291840" y="1097280"/>
            <a:ext cx="2560320" cy="1234440"/>
          </a:xfrm>
          <a:prstGeom prst="roundRect">
            <a:avLst>
              <a:gd name="adj" fmla="val 5926"/>
            </a:avLst>
          </a:prstGeom>
          <a:solidFill>
            <a:srgbClr val="EEF3F0"/>
          </a:solidFill>
          <a:ln w="9525">
            <a:solidFill>
              <a:srgbClr val="D3DAD5"/>
            </a:solidFill>
            <a:prstDash val="solid"/>
          </a:ln>
        </p:spPr>
      </p:sp>
      <p:sp>
        <p:nvSpPr>
          <p:cNvPr id="7" name="Text 5"/>
          <p:cNvSpPr txBox="1"/>
          <p:nvPr/>
        </p:nvSpPr>
        <p:spPr>
          <a:xfrm>
            <a:off x="3456432" y="1207008"/>
            <a:ext cx="2231136" cy="320040"/>
          </a:xfrm>
          <a:prstGeom prst="rect">
            <a:avLst/>
          </a:prstGeom>
          <a:noFill/>
          <a:ln/>
        </p:spPr>
        <p:txBody>
          <a:bodyPr wrap="square" lIns="0" tIns="0" rIns="0" bIns="0" rtlCol="0" anchor="t"/>
          <a:lstStyle/>
          <a:p>
            <a:pPr indent="0" marL="0">
              <a:buNone/>
            </a:pPr>
            <a:r>
              <a:rPr lang="en-US" sz="1100" b="1" dirty="0">
                <a:solidFill>
                  <a:srgbClr val="586661"/>
                </a:solidFill>
                <a:latin typeface="Cambria" pitchFamily="34" charset="0"/>
                <a:ea typeface="Cambria" pitchFamily="34" charset="-122"/>
                <a:cs typeface="Cambria" pitchFamily="34" charset="-120"/>
              </a:rPr>
              <a:t>SUB-PACKAGE</a:t>
            </a:r>
            <a:endParaRPr lang="en-US" sz="1100" dirty="0"/>
          </a:p>
        </p:txBody>
      </p:sp>
      <p:sp>
        <p:nvSpPr>
          <p:cNvPr id="8" name="Text 6"/>
          <p:cNvSpPr txBox="1"/>
          <p:nvPr/>
        </p:nvSpPr>
        <p:spPr>
          <a:xfrm>
            <a:off x="3456432" y="1572768"/>
            <a:ext cx="2231136" cy="667512"/>
          </a:xfrm>
          <a:prstGeom prst="rect">
            <a:avLst/>
          </a:prstGeom>
          <a:noFill/>
          <a:ln/>
        </p:spPr>
        <p:txBody>
          <a:bodyPr wrap="square" lIns="0" tIns="0" rIns="0" bIns="0" rtlCol="0" anchor="t"/>
          <a:lstStyle/>
          <a:p>
            <a:pPr indent="0" marL="0">
              <a:spcAft>
                <a:spcPts val="400"/>
              </a:spcAft>
              <a:buNone/>
            </a:pPr>
            <a:r>
              <a:rPr lang="en-US" sz="1500" dirty="0">
                <a:solidFill>
                  <a:srgbClr val="16201D"/>
                </a:solidFill>
              </a:rPr>
              <a:t>Piling (MMS, Inverter, LT Cable Hangers)</a:t>
            </a:r>
            <a:endParaRPr lang="en-US" sz="1500" dirty="0"/>
          </a:p>
        </p:txBody>
      </p:sp>
      <p:sp>
        <p:nvSpPr>
          <p:cNvPr id="9" name="card ACTIVITY"/>
          <p:cNvSpPr/>
          <p:nvPr/>
        </p:nvSpPr>
        <p:spPr>
          <a:xfrm>
            <a:off x="6126480" y="1097280"/>
            <a:ext cx="2560320" cy="1234440"/>
          </a:xfrm>
          <a:prstGeom prst="roundRect">
            <a:avLst>
              <a:gd name="adj" fmla="val 5926"/>
            </a:avLst>
          </a:prstGeom>
          <a:solidFill>
            <a:srgbClr val="EEF3F0"/>
          </a:solidFill>
          <a:ln w="9525">
            <a:solidFill>
              <a:srgbClr val="D3DAD5"/>
            </a:solidFill>
            <a:prstDash val="solid"/>
          </a:ln>
        </p:spPr>
      </p:sp>
      <p:sp>
        <p:nvSpPr>
          <p:cNvPr id="10" name="Text 8"/>
          <p:cNvSpPr txBox="1"/>
          <p:nvPr/>
        </p:nvSpPr>
        <p:spPr>
          <a:xfrm>
            <a:off x="6291072" y="1207008"/>
            <a:ext cx="2231136" cy="320040"/>
          </a:xfrm>
          <a:prstGeom prst="rect">
            <a:avLst/>
          </a:prstGeom>
          <a:noFill/>
          <a:ln/>
        </p:spPr>
        <p:txBody>
          <a:bodyPr wrap="square" lIns="0" tIns="0" rIns="0" bIns="0" rtlCol="0" anchor="t"/>
          <a:lstStyle/>
          <a:p>
            <a:pPr indent="0" marL="0">
              <a:buNone/>
            </a:pPr>
            <a:r>
              <a:rPr lang="en-US" sz="1100" b="1" dirty="0">
                <a:solidFill>
                  <a:srgbClr val="586661"/>
                </a:solidFill>
                <a:latin typeface="Cambria" pitchFamily="34" charset="0"/>
                <a:ea typeface="Cambria" pitchFamily="34" charset="-122"/>
                <a:cs typeface="Cambria" pitchFamily="34" charset="-120"/>
              </a:rPr>
              <a:t>ACTIVITY</a:t>
            </a:r>
            <a:endParaRPr lang="en-US" sz="1100" dirty="0"/>
          </a:p>
        </p:txBody>
      </p:sp>
      <p:sp>
        <p:nvSpPr>
          <p:cNvPr id="11" name="Text 9"/>
          <p:cNvSpPr txBox="1"/>
          <p:nvPr/>
        </p:nvSpPr>
        <p:spPr>
          <a:xfrm>
            <a:off x="6291072" y="1572768"/>
            <a:ext cx="2231136" cy="667512"/>
          </a:xfrm>
          <a:prstGeom prst="rect">
            <a:avLst/>
          </a:prstGeom>
          <a:noFill/>
          <a:ln/>
        </p:spPr>
        <p:txBody>
          <a:bodyPr wrap="square" lIns="0" tIns="0" rIns="0" bIns="0" rtlCol="0" anchor="t"/>
          <a:lstStyle/>
          <a:p>
            <a:pPr indent="0" marL="0">
              <a:spcAft>
                <a:spcPts val="400"/>
              </a:spcAft>
              <a:buNone/>
            </a:pPr>
            <a:r>
              <a:rPr lang="en-US" sz="1500" dirty="0">
                <a:solidFill>
                  <a:srgbClr val="16201D"/>
                </a:solidFill>
              </a:rPr>
              <a:t>Piling - MMS (A.1.1)</a:t>
            </a:r>
            <a:endParaRPr lang="en-US" sz="1500" dirty="0"/>
          </a:p>
        </p:txBody>
      </p:sp>
      <p:sp>
        <p:nvSpPr>
          <p:cNvPr id="12" name="card SUB-ACTIVITY"/>
          <p:cNvSpPr/>
          <p:nvPr/>
        </p:nvSpPr>
        <p:spPr>
          <a:xfrm>
            <a:off x="457200" y="2514600"/>
            <a:ext cx="2560320" cy="1234440"/>
          </a:xfrm>
          <a:prstGeom prst="roundRect">
            <a:avLst>
              <a:gd name="adj" fmla="val 5926"/>
            </a:avLst>
          </a:prstGeom>
          <a:solidFill>
            <a:srgbClr val="EEF3F0"/>
          </a:solidFill>
          <a:ln w="9525">
            <a:solidFill>
              <a:srgbClr val="D3DAD5"/>
            </a:solidFill>
            <a:prstDash val="solid"/>
          </a:ln>
        </p:spPr>
      </p:sp>
      <p:sp>
        <p:nvSpPr>
          <p:cNvPr id="13" name="Text 11"/>
          <p:cNvSpPr txBox="1"/>
          <p:nvPr/>
        </p:nvSpPr>
        <p:spPr>
          <a:xfrm>
            <a:off x="621792" y="2624328"/>
            <a:ext cx="2231136" cy="320040"/>
          </a:xfrm>
          <a:prstGeom prst="rect">
            <a:avLst/>
          </a:prstGeom>
          <a:noFill/>
          <a:ln/>
        </p:spPr>
        <p:txBody>
          <a:bodyPr wrap="square" lIns="0" tIns="0" rIns="0" bIns="0" rtlCol="0" anchor="t"/>
          <a:lstStyle/>
          <a:p>
            <a:pPr indent="0" marL="0">
              <a:buNone/>
            </a:pPr>
            <a:r>
              <a:rPr lang="en-US" sz="1100" b="1" dirty="0">
                <a:solidFill>
                  <a:srgbClr val="586661"/>
                </a:solidFill>
                <a:latin typeface="Cambria" pitchFamily="34" charset="0"/>
                <a:ea typeface="Cambria" pitchFamily="34" charset="-122"/>
                <a:cs typeface="Cambria" pitchFamily="34" charset="-120"/>
              </a:rPr>
              <a:t>SUB-ACTIVITY</a:t>
            </a:r>
            <a:endParaRPr lang="en-US" sz="1100" dirty="0"/>
          </a:p>
        </p:txBody>
      </p:sp>
      <p:sp>
        <p:nvSpPr>
          <p:cNvPr id="14" name="Text 12"/>
          <p:cNvSpPr txBox="1"/>
          <p:nvPr/>
        </p:nvSpPr>
        <p:spPr>
          <a:xfrm>
            <a:off x="621792" y="2990088"/>
            <a:ext cx="2231136" cy="667512"/>
          </a:xfrm>
          <a:prstGeom prst="rect">
            <a:avLst/>
          </a:prstGeom>
          <a:noFill/>
          <a:ln/>
        </p:spPr>
        <p:txBody>
          <a:bodyPr wrap="square" lIns="0" tIns="0" rIns="0" bIns="0" rtlCol="0" anchor="t"/>
          <a:lstStyle/>
          <a:p>
            <a:pPr indent="0" marL="0">
              <a:spcAft>
                <a:spcPts val="400"/>
              </a:spcAft>
              <a:buNone/>
            </a:pPr>
            <a:r>
              <a:rPr lang="en-US" sz="1500" dirty="0">
                <a:solidFill>
                  <a:srgbClr val="16201D"/>
                </a:solidFill>
              </a:rPr>
              <a:t>Piling - MMS, per Table</a:t>
            </a:r>
            <a:endParaRPr lang="en-US" sz="1500" dirty="0"/>
          </a:p>
        </p:txBody>
      </p:sp>
      <p:sp>
        <p:nvSpPr>
          <p:cNvPr id="15" name="card CHECKPOINT"/>
          <p:cNvSpPr/>
          <p:nvPr/>
        </p:nvSpPr>
        <p:spPr>
          <a:xfrm>
            <a:off x="3291840" y="2514600"/>
            <a:ext cx="2560320" cy="1234440"/>
          </a:xfrm>
          <a:prstGeom prst="roundRect">
            <a:avLst>
              <a:gd name="adj" fmla="val 5926"/>
            </a:avLst>
          </a:prstGeom>
          <a:solidFill>
            <a:srgbClr val="EEF3F0"/>
          </a:solidFill>
          <a:ln w="9525">
            <a:solidFill>
              <a:srgbClr val="D3DAD5"/>
            </a:solidFill>
            <a:prstDash val="solid"/>
          </a:ln>
        </p:spPr>
      </p:sp>
      <p:sp>
        <p:nvSpPr>
          <p:cNvPr id="16" name="Text 14"/>
          <p:cNvSpPr txBox="1"/>
          <p:nvPr/>
        </p:nvSpPr>
        <p:spPr>
          <a:xfrm>
            <a:off x="3456432" y="2624328"/>
            <a:ext cx="2231136" cy="320040"/>
          </a:xfrm>
          <a:prstGeom prst="rect">
            <a:avLst/>
          </a:prstGeom>
          <a:noFill/>
          <a:ln/>
        </p:spPr>
        <p:txBody>
          <a:bodyPr wrap="square" lIns="0" tIns="0" rIns="0" bIns="0" rtlCol="0" anchor="t"/>
          <a:lstStyle/>
          <a:p>
            <a:pPr indent="0" marL="0">
              <a:buNone/>
            </a:pPr>
            <a:r>
              <a:rPr lang="en-US" sz="1100" b="1" dirty="0">
                <a:solidFill>
                  <a:srgbClr val="586661"/>
                </a:solidFill>
                <a:latin typeface="Cambria" pitchFamily="34" charset="0"/>
                <a:ea typeface="Cambria" pitchFamily="34" charset="-122"/>
                <a:cs typeface="Cambria" pitchFamily="34" charset="-120"/>
              </a:rPr>
              <a:t>CHECKPOINT</a:t>
            </a:r>
            <a:endParaRPr lang="en-US" sz="1100" dirty="0"/>
          </a:p>
        </p:txBody>
      </p:sp>
      <p:sp>
        <p:nvSpPr>
          <p:cNvPr id="17" name="Text 15"/>
          <p:cNvSpPr txBox="1"/>
          <p:nvPr/>
        </p:nvSpPr>
        <p:spPr>
          <a:xfrm>
            <a:off x="3456432" y="2990088"/>
            <a:ext cx="2231136" cy="667512"/>
          </a:xfrm>
          <a:prstGeom prst="rect">
            <a:avLst/>
          </a:prstGeom>
          <a:noFill/>
          <a:ln/>
        </p:spPr>
        <p:txBody>
          <a:bodyPr wrap="square" lIns="0" tIns="0" rIns="0" bIns="0" rtlCol="0" anchor="t"/>
          <a:lstStyle/>
          <a:p>
            <a:pPr indent="0" marL="0">
              <a:spcAft>
                <a:spcPts val="400"/>
              </a:spcAft>
              <a:buNone/>
            </a:pPr>
            <a:r>
              <a:rPr lang="en-US" sz="1500" dirty="0">
                <a:solidFill>
                  <a:srgbClr val="16201D"/>
                </a:solidFill>
              </a:rPr>
              <a:t>Pre Pour Inspection - Pile</a:t>
            </a:r>
            <a:endParaRPr lang="en-US" sz="1500" dirty="0"/>
          </a:p>
        </p:txBody>
      </p:sp>
      <p:sp>
        <p:nvSpPr>
          <p:cNvPr id="18" name="card CHECKLIST"/>
          <p:cNvSpPr/>
          <p:nvPr/>
        </p:nvSpPr>
        <p:spPr>
          <a:xfrm>
            <a:off x="6126480" y="2514600"/>
            <a:ext cx="2560320" cy="1234440"/>
          </a:xfrm>
          <a:prstGeom prst="roundRect">
            <a:avLst>
              <a:gd name="adj" fmla="val 5926"/>
            </a:avLst>
          </a:prstGeom>
          <a:solidFill>
            <a:srgbClr val="DCEFEA"/>
          </a:solidFill>
          <a:ln w="9525">
            <a:solidFill>
              <a:srgbClr val="D3DAD5"/>
            </a:solidFill>
            <a:prstDash val="solid"/>
          </a:ln>
        </p:spPr>
      </p:sp>
      <p:sp>
        <p:nvSpPr>
          <p:cNvPr id="19" name="Text 17"/>
          <p:cNvSpPr txBox="1"/>
          <p:nvPr/>
        </p:nvSpPr>
        <p:spPr>
          <a:xfrm>
            <a:off x="6291072" y="2624328"/>
            <a:ext cx="2231136" cy="320040"/>
          </a:xfrm>
          <a:prstGeom prst="rect">
            <a:avLst/>
          </a:prstGeom>
          <a:noFill/>
          <a:ln/>
        </p:spPr>
        <p:txBody>
          <a:bodyPr wrap="square" lIns="0" tIns="0" rIns="0" bIns="0" rtlCol="0" anchor="t"/>
          <a:lstStyle/>
          <a:p>
            <a:pPr indent="0" marL="0">
              <a:buNone/>
            </a:pPr>
            <a:r>
              <a:rPr lang="en-US" sz="1100" b="1" dirty="0">
                <a:solidFill>
                  <a:srgbClr val="586661"/>
                </a:solidFill>
                <a:latin typeface="Cambria" pitchFamily="34" charset="0"/>
                <a:ea typeface="Cambria" pitchFamily="34" charset="-122"/>
                <a:cs typeface="Cambria" pitchFamily="34" charset="-120"/>
              </a:rPr>
              <a:t>CHECKLIST</a:t>
            </a:r>
            <a:endParaRPr lang="en-US" sz="1100" dirty="0"/>
          </a:p>
        </p:txBody>
      </p:sp>
      <p:sp>
        <p:nvSpPr>
          <p:cNvPr id="20" name="Text 18"/>
          <p:cNvSpPr txBox="1"/>
          <p:nvPr/>
        </p:nvSpPr>
        <p:spPr>
          <a:xfrm>
            <a:off x="6291072" y="2990088"/>
            <a:ext cx="2231136" cy="667512"/>
          </a:xfrm>
          <a:prstGeom prst="rect">
            <a:avLst/>
          </a:prstGeom>
          <a:noFill/>
          <a:ln/>
        </p:spPr>
        <p:txBody>
          <a:bodyPr wrap="square" lIns="0" tIns="0" rIns="0" bIns="0" rtlCol="0" anchor="t"/>
          <a:lstStyle/>
          <a:p>
            <a:pPr indent="0" marL="0">
              <a:spcAft>
                <a:spcPts val="400"/>
              </a:spcAft>
              <a:buNone/>
            </a:pPr>
            <a:r>
              <a:rPr lang="en-US" sz="1500" dirty="0">
                <a:solidFill>
                  <a:srgbClr val="16201D"/>
                </a:solidFill>
              </a:rPr>
              <a:t>Micro Pile Checklist</a:t>
            </a:r>
            <a:endParaRPr lang="en-US" sz="1500" dirty="0"/>
          </a:p>
        </p:txBody>
      </p:sp>
      <p:sp>
        <p:nvSpPr>
          <p:cNvPr id="21" name="Text 19"/>
          <p:cNvSpPr txBox="1"/>
          <p:nvPr/>
        </p:nvSpPr>
        <p:spPr>
          <a:xfrm>
            <a:off x="457200" y="4023360"/>
            <a:ext cx="8229600" cy="365760"/>
          </a:xfrm>
          <a:prstGeom prst="rect">
            <a:avLst/>
          </a:prstGeom>
          <a:noFill/>
          <a:ln/>
        </p:spPr>
        <p:txBody>
          <a:bodyPr wrap="square" lIns="0" tIns="0" rIns="0" bIns="0" rtlCol="0" anchor="ctr"/>
          <a:lstStyle/>
          <a:p>
            <a:pPr indent="0" marL="0">
              <a:buNone/>
            </a:pPr>
            <a:r>
              <a:rPr lang="en-US" sz="1400" dirty="0">
                <a:solidFill>
                  <a:srgbClr val="586661"/>
                </a:solidFill>
              </a:rPr>
              <a:t>The location tree says where the work is. An RFI is raised where one sub-activity meets one place.</a:t>
            </a:r>
            <a:endParaRPr lang="en-US" sz="14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86661"/>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B3D36"/>
                </a:solidFill>
                <a:latin typeface="Cambria" pitchFamily="34" charset="0"/>
                <a:ea typeface="Cambria" pitchFamily="34" charset="-122"/>
                <a:cs typeface="Cambria" pitchFamily="34" charset="-120"/>
              </a:rPr>
              <a:t>Checkpoints unlock one at a time</a:t>
            </a:r>
            <a:endParaRPr lang="en-US" sz="3000" dirty="0"/>
          </a:p>
        </p:txBody>
      </p:sp>
      <p:sp>
        <p:nvSpPr>
          <p:cNvPr id="3" name="Shape 1"/>
          <p:cNvSpPr/>
          <p:nvPr/>
        </p:nvSpPr>
        <p:spPr>
          <a:xfrm>
            <a:off x="457200" y="1088136"/>
            <a:ext cx="365760" cy="365760"/>
          </a:xfrm>
          <a:prstGeom prst="ellipse">
            <a:avLst/>
          </a:prstGeom>
          <a:solidFill>
            <a:srgbClr val="0C6A5E"/>
          </a:solidFill>
          <a:ln w="12700">
            <a:solidFill>
              <a:srgbClr val="FFFFFF"/>
            </a:solidFill>
            <a:prstDash val="solid"/>
          </a:ln>
        </p:spPr>
      </p:sp>
      <p:sp>
        <p:nvSpPr>
          <p:cNvPr id="4" name="Text 2"/>
          <p:cNvSpPr txBox="1"/>
          <p:nvPr/>
        </p:nvSpPr>
        <p:spPr>
          <a:xfrm>
            <a:off x="457200" y="1088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960120" y="1088136"/>
            <a:ext cx="3017520" cy="365760"/>
          </a:xfrm>
          <a:prstGeom prst="rect">
            <a:avLst/>
          </a:prstGeom>
          <a:noFill/>
          <a:ln/>
        </p:spPr>
        <p:txBody>
          <a:bodyPr wrap="square" lIns="0" tIns="0" rIns="0" bIns="0" rtlCol="0" anchor="ctr"/>
          <a:lstStyle/>
          <a:p>
            <a:pPr indent="0" marL="0">
              <a:buNone/>
            </a:pPr>
            <a:r>
              <a:rPr lang="en-US" sz="1400" dirty="0">
                <a:solidFill>
                  <a:srgbClr val="000000"/>
                </a:solidFill>
              </a:rPr>
              <a:t>Pre Pour Inspection - Pile</a:t>
            </a:r>
            <a:endParaRPr lang="en-US" sz="1400" dirty="0"/>
          </a:p>
        </p:txBody>
      </p:sp>
      <p:sp>
        <p:nvSpPr>
          <p:cNvPr id="6" name="Shape 4"/>
          <p:cNvSpPr/>
          <p:nvPr/>
        </p:nvSpPr>
        <p:spPr>
          <a:xfrm>
            <a:off x="457200" y="1655064"/>
            <a:ext cx="365760" cy="365760"/>
          </a:xfrm>
          <a:prstGeom prst="ellipse">
            <a:avLst/>
          </a:prstGeom>
          <a:solidFill>
            <a:srgbClr val="0C6A5E"/>
          </a:solidFill>
          <a:ln w="12700">
            <a:solidFill>
              <a:srgbClr val="FFFFFF"/>
            </a:solidFill>
            <a:prstDash val="solid"/>
          </a:ln>
        </p:spPr>
      </p:sp>
      <p:sp>
        <p:nvSpPr>
          <p:cNvPr id="7" name="Text 5"/>
          <p:cNvSpPr txBox="1"/>
          <p:nvPr/>
        </p:nvSpPr>
        <p:spPr>
          <a:xfrm>
            <a:off x="457200" y="1655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960120" y="1655064"/>
            <a:ext cx="3017520" cy="365760"/>
          </a:xfrm>
          <a:prstGeom prst="rect">
            <a:avLst/>
          </a:prstGeom>
          <a:noFill/>
          <a:ln/>
        </p:spPr>
        <p:txBody>
          <a:bodyPr wrap="square" lIns="0" tIns="0" rIns="0" bIns="0" rtlCol="0" anchor="ctr"/>
          <a:lstStyle/>
          <a:p>
            <a:pPr indent="0" marL="0">
              <a:buNone/>
            </a:pPr>
            <a:r>
              <a:rPr lang="en-US" sz="1400" dirty="0">
                <a:solidFill>
                  <a:srgbClr val="000000"/>
                </a:solidFill>
              </a:rPr>
              <a:t>Pre Pour Inspection - Pile Cap</a:t>
            </a:r>
            <a:endParaRPr lang="en-US" sz="1400" dirty="0"/>
          </a:p>
        </p:txBody>
      </p:sp>
      <p:sp>
        <p:nvSpPr>
          <p:cNvPr id="9" name="Shape 7"/>
          <p:cNvSpPr/>
          <p:nvPr/>
        </p:nvSpPr>
        <p:spPr>
          <a:xfrm>
            <a:off x="457200" y="2221992"/>
            <a:ext cx="365760" cy="365760"/>
          </a:xfrm>
          <a:prstGeom prst="ellipse">
            <a:avLst/>
          </a:prstGeom>
          <a:solidFill>
            <a:srgbClr val="0C6A5E"/>
          </a:solidFill>
          <a:ln w="12700">
            <a:solidFill>
              <a:srgbClr val="FFFFFF"/>
            </a:solidFill>
            <a:prstDash val="solid"/>
          </a:ln>
        </p:spPr>
      </p:sp>
      <p:sp>
        <p:nvSpPr>
          <p:cNvPr id="10" name="Text 8"/>
          <p:cNvSpPr txBox="1"/>
          <p:nvPr/>
        </p:nvSpPr>
        <p:spPr>
          <a:xfrm>
            <a:off x="457200" y="222199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1" name="Text 9"/>
          <p:cNvSpPr txBox="1"/>
          <p:nvPr/>
        </p:nvSpPr>
        <p:spPr>
          <a:xfrm>
            <a:off x="960120" y="2221992"/>
            <a:ext cx="3017520" cy="365760"/>
          </a:xfrm>
          <a:prstGeom prst="rect">
            <a:avLst/>
          </a:prstGeom>
          <a:noFill/>
          <a:ln/>
        </p:spPr>
        <p:txBody>
          <a:bodyPr wrap="square" lIns="0" tIns="0" rIns="0" bIns="0" rtlCol="0" anchor="ctr"/>
          <a:lstStyle/>
          <a:p>
            <a:pPr indent="0" marL="0">
              <a:buNone/>
            </a:pPr>
            <a:r>
              <a:rPr lang="en-US" sz="1400" dirty="0">
                <a:solidFill>
                  <a:srgbClr val="000000"/>
                </a:solidFill>
              </a:rPr>
              <a:t>Post Pour Inspection</a:t>
            </a:r>
            <a:endParaRPr lang="en-US" sz="1400" dirty="0"/>
          </a:p>
        </p:txBody>
      </p:sp>
      <p:sp>
        <p:nvSpPr>
          <p:cNvPr id="12" name="Shape 10"/>
          <p:cNvSpPr/>
          <p:nvPr/>
        </p:nvSpPr>
        <p:spPr>
          <a:xfrm>
            <a:off x="457200" y="2788920"/>
            <a:ext cx="365760" cy="365760"/>
          </a:xfrm>
          <a:prstGeom prst="ellipse">
            <a:avLst/>
          </a:prstGeom>
          <a:solidFill>
            <a:srgbClr val="8F9C96"/>
          </a:solidFill>
          <a:ln w="12700">
            <a:solidFill>
              <a:srgbClr val="FFFFFF"/>
            </a:solidFill>
            <a:prstDash val="solid"/>
          </a:ln>
        </p:spPr>
      </p:sp>
      <p:sp>
        <p:nvSpPr>
          <p:cNvPr id="13" name="Text 11"/>
          <p:cNvSpPr txBox="1"/>
          <p:nvPr/>
        </p:nvSpPr>
        <p:spPr>
          <a:xfrm>
            <a:off x="457200" y="27889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4" name="Text 12"/>
          <p:cNvSpPr txBox="1"/>
          <p:nvPr/>
        </p:nvSpPr>
        <p:spPr>
          <a:xfrm>
            <a:off x="960120" y="2788920"/>
            <a:ext cx="3017520" cy="365760"/>
          </a:xfrm>
          <a:prstGeom prst="rect">
            <a:avLst/>
          </a:prstGeom>
          <a:noFill/>
          <a:ln/>
        </p:spPr>
        <p:txBody>
          <a:bodyPr wrap="square" lIns="0" tIns="0" rIns="0" bIns="0" rtlCol="0" anchor="ctr"/>
          <a:lstStyle/>
          <a:p>
            <a:pPr indent="0" marL="0">
              <a:buNone/>
            </a:pPr>
            <a:r>
              <a:rPr lang="en-US" sz="1400" dirty="0">
                <a:solidFill>
                  <a:srgbClr val="000000"/>
                </a:solidFill>
              </a:rPr>
              <a:t>Epoxy Coating</a:t>
            </a:r>
            <a:endParaRPr lang="en-US" sz="1400" dirty="0"/>
          </a:p>
        </p:txBody>
      </p:sp>
      <p:sp>
        <p:nvSpPr>
          <p:cNvPr id="15" name="Shape 13"/>
          <p:cNvSpPr/>
          <p:nvPr/>
        </p:nvSpPr>
        <p:spPr>
          <a:xfrm>
            <a:off x="457200" y="3355848"/>
            <a:ext cx="365760" cy="365760"/>
          </a:xfrm>
          <a:prstGeom prst="ellipse">
            <a:avLst/>
          </a:prstGeom>
          <a:solidFill>
            <a:srgbClr val="8F9C96"/>
          </a:solidFill>
          <a:ln w="12700">
            <a:solidFill>
              <a:srgbClr val="FFFFFF"/>
            </a:solidFill>
            <a:prstDash val="solid"/>
          </a:ln>
        </p:spPr>
      </p:sp>
      <p:sp>
        <p:nvSpPr>
          <p:cNvPr id="16" name="Text 14"/>
          <p:cNvSpPr txBox="1"/>
          <p:nvPr/>
        </p:nvSpPr>
        <p:spPr>
          <a:xfrm>
            <a:off x="457200" y="33558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7" name="Text 15"/>
          <p:cNvSpPr txBox="1"/>
          <p:nvPr/>
        </p:nvSpPr>
        <p:spPr>
          <a:xfrm>
            <a:off x="960120" y="3355848"/>
            <a:ext cx="3017520" cy="365760"/>
          </a:xfrm>
          <a:prstGeom prst="rect">
            <a:avLst/>
          </a:prstGeom>
          <a:noFill/>
          <a:ln/>
        </p:spPr>
        <p:txBody>
          <a:bodyPr wrap="square" lIns="0" tIns="0" rIns="0" bIns="0" rtlCol="0" anchor="ctr"/>
          <a:lstStyle/>
          <a:p>
            <a:pPr indent="0" marL="0">
              <a:buNone/>
            </a:pPr>
            <a:r>
              <a:rPr lang="en-US" sz="1400" dirty="0">
                <a:solidFill>
                  <a:srgbClr val="000000"/>
                </a:solidFill>
              </a:rPr>
              <a:t>Routine Testing</a:t>
            </a:r>
            <a:endParaRPr lang="en-US" sz="1400" dirty="0"/>
          </a:p>
        </p:txBody>
      </p:sp>
      <p:sp>
        <p:nvSpPr>
          <p:cNvPr id="18" name="Text 16"/>
          <p:cNvSpPr txBox="1"/>
          <p:nvPr/>
        </p:nvSpPr>
        <p:spPr>
          <a:xfrm>
            <a:off x="457200" y="3931920"/>
            <a:ext cx="3566160" cy="640080"/>
          </a:xfrm>
          <a:prstGeom prst="rect">
            <a:avLst/>
          </a:prstGeom>
          <a:noFill/>
          <a:ln/>
        </p:spPr>
        <p:txBody>
          <a:bodyPr wrap="square" lIns="0" tIns="0" rIns="0" bIns="0" rtlCol="0" anchor="ctr"/>
          <a:lstStyle/>
          <a:p>
            <a:pPr indent="0" marL="0">
              <a:buNone/>
            </a:pPr>
            <a:r>
              <a:rPr lang="en-US" sz="1200" dirty="0">
                <a:solidFill>
                  <a:srgbClr val="586661"/>
                </a:solidFill>
              </a:rPr>
              <a:t>Checkpoint 2 needs checkpoint 1 approved by EE and QI, for the same work section.</a:t>
            </a:r>
            <a:endParaRPr lang="en-US" sz="1200" dirty="0"/>
          </a:p>
        </p:txBody>
      </p:sp>
      <p:graphicFrame>
        <p:nvGraphicFramePr>
          <p:cNvPr id="11" name="min unit table"/>
          <p:cNvGraphicFramePr>
            <a:graphicFrameLocks noGrp="1"/>
          </p:cNvGraphicFramePr>
          <p:nvPr>
            <p:extLst>
              <p:ext uri="{D42A27DB-BD31-4B8C-83A1-F6EECF244321}">
                <p14:modId xmlns:p14="http://schemas.microsoft.com/office/powerpoint/2010/main" val="1579011935"/>
              </p:ext>
            </p:extLst>
          </p:nvPr>
        </p:nvGraphicFramePr>
        <p:xfrm>
          <a:off x="4297680" y="1051560"/>
          <a:ext cx="4389120" cy="914400"/>
        </p:xfrm>
        <a:graphic>
          <a:graphicData uri="http://schemas.openxmlformats.org/drawingml/2006/table">
            <a:tbl>
              <a:tblPr/>
              <a:tblGrid>
                <a:gridCol w="914400"/>
                <a:gridCol w="2286000"/>
                <a:gridCol w="1188720"/>
              </a:tblGrid>
              <a:tr h="329184">
                <a:tc>
                  <a:txBody>
                    <a:bodyPr/>
                    <a:lstStyle/>
                    <a:p>
                      <a:pPr indent="0" marL="0">
                        <a:buNone/>
                      </a:pPr>
                      <a:r>
                        <a:rPr lang="en-US" sz="1200" b="1" dirty="0">
                          <a:solidFill>
                            <a:srgbClr val="FFFFFF"/>
                          </a:solidFill>
                        </a:rPr>
                        <a:t>Min. unit</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solidFill>
                      <a:srgbClr val="0B3D36"/>
                    </a:solidFill>
                  </a:tcPr>
                </a:tc>
                <a:tc>
                  <a:txBody>
                    <a:bodyPr/>
                    <a:lstStyle/>
                    <a:p>
                      <a:pPr indent="0" marL="0">
                        <a:buNone/>
                      </a:pPr>
                      <a:r>
                        <a:rPr lang="en-US" sz="1200" b="1" dirty="0">
                          <a:solidFill>
                            <a:srgbClr val="FFFFFF"/>
                          </a:solidFill>
                        </a:rPr>
                        <a:t>Work section is</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solidFill>
                      <a:srgbClr val="0B3D36"/>
                    </a:solidFill>
                  </a:tcPr>
                </a:tc>
                <a:tc>
                  <a:txBody>
                    <a:bodyPr/>
                    <a:lstStyle/>
                    <a:p>
                      <a:pPr indent="0" marL="0">
                        <a:buNone/>
                      </a:pPr>
                      <a:r>
                        <a:rPr lang="en-US" sz="1200" b="1" dirty="0">
                          <a:solidFill>
                            <a:srgbClr val="FFFFFF"/>
                          </a:solidFill>
                        </a:rPr>
                        <a:t>Example</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solidFill>
                      <a:srgbClr val="0B3D36"/>
                    </a:solidFill>
                  </a:tcPr>
                </a:tc>
              </a:tr>
              <a:tr h="329184">
                <a:tc>
                  <a:txBody>
                    <a:bodyPr/>
                    <a:lstStyle/>
                    <a:p>
                      <a:pPr indent="0" marL="0">
                        <a:buNone/>
                      </a:pPr>
                      <a:r>
                        <a:rPr lang="en-US" sz="1200" b="1" dirty="0">
                          <a:solidFill>
                            <a:srgbClr val="000000"/>
                          </a:solidFill>
                        </a:rPr>
                        <a:t>Table</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c>
                  <a:txBody>
                    <a:bodyPr/>
                    <a:lstStyle/>
                    <a:p>
                      <a:pPr indent="0" marL="0">
                        <a:buNone/>
                      </a:pPr>
                      <a:r>
                        <a:rPr lang="en-US" sz="1200" dirty="0">
                          <a:solidFill>
                            <a:srgbClr val="000000"/>
                          </a:solidFill>
                        </a:rPr>
                        <a:t>One table in the Work Area</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c>
                  <a:txBody>
                    <a:bodyPr/>
                    <a:lstStyle/>
                    <a:p>
                      <a:pPr indent="0" marL="0">
                        <a:buNone/>
                      </a:pPr>
                      <a:r>
                        <a:rPr lang="en-US" sz="1200" dirty="0">
                          <a:solidFill>
                            <a:srgbClr val="000000"/>
                          </a:solidFill>
                        </a:rPr>
                        <a:t>R01-T71</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r>
              <a:tr h="329184">
                <a:tc>
                  <a:txBody>
                    <a:bodyPr/>
                    <a:lstStyle/>
                    <a:p>
                      <a:pPr indent="0" marL="0">
                        <a:buNone/>
                      </a:pPr>
                      <a:r>
                        <a:rPr lang="en-US" sz="1200" b="1" dirty="0">
                          <a:solidFill>
                            <a:srgbClr val="000000"/>
                          </a:solidFill>
                        </a:rPr>
                        <a:t>Inverter</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c>
                  <a:txBody>
                    <a:bodyPr/>
                    <a:lstStyle/>
                    <a:p>
                      <a:pPr indent="0" marL="0">
                        <a:buNone/>
                      </a:pPr>
                      <a:r>
                        <a:rPr lang="en-US" sz="1200" dirty="0">
                          <a:solidFill>
                            <a:srgbClr val="000000"/>
                          </a:solidFill>
                        </a:rPr>
                        <a:t>One inverter in the Work Area</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c>
                  <a:txBody>
                    <a:bodyPr/>
                    <a:lstStyle/>
                    <a:p>
                      <a:pPr indent="0" marL="0">
                        <a:buNone/>
                      </a:pPr>
                      <a:r>
                        <a:rPr lang="en-US" sz="1200" dirty="0">
                          <a:solidFill>
                            <a:srgbClr val="000000"/>
                          </a:solidFill>
                        </a:rPr>
                        <a:t>I47</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r>
              <a:tr h="329184">
                <a:tc>
                  <a:txBody>
                    <a:bodyPr/>
                    <a:lstStyle/>
                    <a:p>
                      <a:pPr indent="0" marL="0">
                        <a:buNone/>
                      </a:pPr>
                      <a:r>
                        <a:rPr lang="en-US" sz="1200" b="1" dirty="0">
                          <a:solidFill>
                            <a:srgbClr val="000000"/>
                          </a:solidFill>
                        </a:rPr>
                        <a:t>Block</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c>
                  <a:txBody>
                    <a:bodyPr/>
                    <a:lstStyle/>
                    <a:p>
                      <a:pPr indent="0" marL="0">
                        <a:buNone/>
                      </a:pPr>
                      <a:r>
                        <a:rPr lang="en-US" sz="1200" dirty="0">
                          <a:solidFill>
                            <a:srgbClr val="000000"/>
                          </a:solidFill>
                        </a:rPr>
                        <a:t>The Work Area itself</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c>
                  <a:txBody>
                    <a:bodyPr/>
                    <a:lstStyle/>
                    <a:p>
                      <a:pPr indent="0" marL="0">
                        <a:buNone/>
                      </a:pPr>
                      <a:r>
                        <a:rPr lang="en-US" sz="1200" dirty="0">
                          <a:solidFill>
                            <a:srgbClr val="000000"/>
                          </a:solidFill>
                        </a:rPr>
                        <a:t>BL01</a:t>
                      </a:r>
                      <a:endParaRPr lang="en-US" sz="1200" dirty="0"/>
                    </a:p>
                  </a:txBody>
                  <a:tcPr marL="91440" marR="91440" marT="45720" marB="45720">
                    <a:lnL w="6350" cap="flat" cmpd="sng" algn="ctr">
                      <a:solidFill>
                        <a:srgbClr val="D3DAD5"/>
                      </a:solidFill>
                      <a:prstDash val="solid"/>
                      <a:round/>
                      <a:headEnd type="none" w="med" len="med"/>
                      <a:tailEnd type="none" w="med" len="med"/>
                    </a:lnL>
                    <a:lnR w="6350" cap="flat" cmpd="sng" algn="ctr">
                      <a:solidFill>
                        <a:srgbClr val="D3DAD5"/>
                      </a:solidFill>
                      <a:prstDash val="solid"/>
                      <a:round/>
                      <a:headEnd type="none" w="med" len="med"/>
                      <a:tailEnd type="none" w="med" len="med"/>
                    </a:lnR>
                    <a:lnT w="6350" cap="flat" cmpd="sng" algn="ctr">
                      <a:solidFill>
                        <a:srgbClr val="D3DAD5"/>
                      </a:solidFill>
                      <a:prstDash val="solid"/>
                      <a:round/>
                      <a:headEnd type="none" w="med" len="med"/>
                      <a:tailEnd type="none" w="med" len="med"/>
                    </a:lnT>
                    <a:lnB w="6350" cap="flat" cmpd="sng" algn="ctr">
                      <a:solidFill>
                        <a:srgbClr val="D3DAD5"/>
                      </a:solidFill>
                      <a:prstDash val="solid"/>
                      <a:round/>
                      <a:headEnd type="none" w="med" len="med"/>
                      <a:tailEnd type="none" w="med" len="med"/>
                    </a:lnB>
                  </a:tcPr>
                </a:tc>
              </a:tr>
            </a:tbl>
          </a:graphicData>
        </a:graphic>
      </p:graphicFrame>
      <p:sp>
        <p:nvSpPr>
          <p:cNvPr id="20" name="card Cross-activity rules"/>
          <p:cNvSpPr/>
          <p:nvPr/>
        </p:nvSpPr>
        <p:spPr>
          <a:xfrm>
            <a:off x="4297680" y="2606040"/>
            <a:ext cx="4389120" cy="1828800"/>
          </a:xfrm>
          <a:prstGeom prst="roundRect">
            <a:avLst>
              <a:gd name="adj" fmla="val 4000"/>
            </a:avLst>
          </a:prstGeom>
          <a:solidFill>
            <a:srgbClr val="EEF3F0"/>
          </a:solidFill>
          <a:ln w="9525">
            <a:solidFill>
              <a:srgbClr val="D3DAD5"/>
            </a:solidFill>
            <a:prstDash val="solid"/>
          </a:ln>
        </p:spPr>
      </p:sp>
      <p:sp>
        <p:nvSpPr>
          <p:cNvPr id="21" name="Text 18"/>
          <p:cNvSpPr txBox="1"/>
          <p:nvPr/>
        </p:nvSpPr>
        <p:spPr>
          <a:xfrm>
            <a:off x="4462272" y="2715768"/>
            <a:ext cx="4059936" cy="320040"/>
          </a:xfrm>
          <a:prstGeom prst="rect">
            <a:avLst/>
          </a:prstGeom>
          <a:noFill/>
          <a:ln/>
        </p:spPr>
        <p:txBody>
          <a:bodyPr wrap="square" lIns="0" tIns="0" rIns="0" bIns="0" rtlCol="0" anchor="t"/>
          <a:lstStyle/>
          <a:p>
            <a:pPr indent="0" marL="0">
              <a:buNone/>
            </a:pPr>
            <a:r>
              <a:rPr lang="en-US" sz="1600" b="1" dirty="0">
                <a:solidFill>
                  <a:srgbClr val="0B3D36"/>
                </a:solidFill>
                <a:latin typeface="Cambria" pitchFamily="34" charset="0"/>
                <a:ea typeface="Cambria" pitchFamily="34" charset="-122"/>
                <a:cs typeface="Cambria" pitchFamily="34" charset="-120"/>
              </a:rPr>
              <a:t>Cross-activity rules</a:t>
            </a:r>
            <a:endParaRPr lang="en-US" sz="1600" dirty="0"/>
          </a:p>
        </p:txBody>
      </p:sp>
      <p:sp>
        <p:nvSpPr>
          <p:cNvPr id="22" name="Text 19"/>
          <p:cNvSpPr txBox="1"/>
          <p:nvPr/>
        </p:nvSpPr>
        <p:spPr>
          <a:xfrm>
            <a:off x="4462272" y="3081528"/>
            <a:ext cx="4059936" cy="1261872"/>
          </a:xfrm>
          <a:prstGeom prst="rect">
            <a:avLst/>
          </a:prstGeom>
          <a:noFill/>
          <a:ln/>
        </p:spPr>
        <p:txBody>
          <a:bodyPr wrap="square" lIns="0" tIns="0" rIns="0" bIns="0" rtlCol="0" anchor="t"/>
          <a:lstStyle/>
          <a:p>
            <a:pPr indent="0" marL="0">
              <a:spcAft>
                <a:spcPts val="400"/>
              </a:spcAft>
              <a:buNone/>
            </a:pPr>
            <a:r>
              <a:rPr lang="en-US" sz="1300" dirty="0">
                <a:solidFill>
                  <a:srgbClr val="16201D"/>
                </a:solidFill>
              </a:rPr>
              <a:t>Table activities depend on Table ones at the same table, Inverter on Inverter. Block activities can depend on both, and then every table and inverter in the Work Area must be approved first.</a:t>
            </a:r>
            <a:endParaRPr lang="en-US" sz="13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86661"/>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B3D36"/>
                </a:solidFill>
                <a:latin typeface="Cambria" pitchFamily="34" charset="0"/>
                <a:ea typeface="Cambria" pitchFamily="34" charset="-122"/>
                <a:cs typeface="Cambria" pitchFamily="34" charset="-120"/>
              </a:rPr>
              <a:t>Work sections are used up, and SOs scope contractors</a:t>
            </a:r>
            <a:endParaRPr lang="en-US" sz="3000" dirty="0"/>
          </a:p>
        </p:txBody>
      </p:sp>
      <p:sp>
        <p:nvSpPr>
          <p:cNvPr id="3" name="card When a work section is consumed"/>
          <p:cNvSpPr/>
          <p:nvPr/>
        </p:nvSpPr>
        <p:spPr>
          <a:xfrm>
            <a:off x="457200" y="1051560"/>
            <a:ext cx="3977640" cy="3383280"/>
          </a:xfrm>
          <a:prstGeom prst="roundRect">
            <a:avLst>
              <a:gd name="adj" fmla="val 2162"/>
            </a:avLst>
          </a:prstGeom>
          <a:solidFill>
            <a:srgbClr val="EEF3F0"/>
          </a:solidFill>
          <a:ln w="9525">
            <a:solidFill>
              <a:srgbClr val="D3DAD5"/>
            </a:solidFill>
            <a:prstDash val="solid"/>
          </a:ln>
        </p:spPr>
      </p:sp>
      <p:sp>
        <p:nvSpPr>
          <p:cNvPr id="4" name="Text 2"/>
          <p:cNvSpPr txBox="1"/>
          <p:nvPr/>
        </p:nvSpPr>
        <p:spPr>
          <a:xfrm>
            <a:off x="621792" y="1161288"/>
            <a:ext cx="3648456" cy="320040"/>
          </a:xfrm>
          <a:prstGeom prst="rect">
            <a:avLst/>
          </a:prstGeom>
          <a:noFill/>
          <a:ln/>
        </p:spPr>
        <p:txBody>
          <a:bodyPr wrap="square" lIns="0" tIns="0" rIns="0" bIns="0" rtlCol="0" anchor="t"/>
          <a:lstStyle/>
          <a:p>
            <a:pPr indent="0" marL="0">
              <a:buNone/>
            </a:pPr>
            <a:r>
              <a:rPr lang="en-US" sz="1600" b="1" dirty="0">
                <a:solidFill>
                  <a:srgbClr val="0B3D36"/>
                </a:solidFill>
                <a:latin typeface="Cambria" pitchFamily="34" charset="0"/>
                <a:ea typeface="Cambria" pitchFamily="34" charset="-122"/>
                <a:cs typeface="Cambria" pitchFamily="34" charset="-120"/>
              </a:rPr>
              <a:t>When a work section is consumed</a:t>
            </a:r>
            <a:endParaRPr lang="en-US" sz="1600" dirty="0"/>
          </a:p>
        </p:txBody>
      </p:sp>
      <p:sp>
        <p:nvSpPr>
          <p:cNvPr id="5" name="Text 3"/>
          <p:cNvSpPr txBox="1"/>
          <p:nvPr/>
        </p:nvSpPr>
        <p:spPr>
          <a:xfrm>
            <a:off x="621792" y="1554480"/>
            <a:ext cx="365760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00000"/>
                </a:solidFill>
              </a:rPr>
              <a:t>Key is (sub-activity, checkpoint, work section).</a:t>
            </a:r>
            <a:endParaRPr lang="en-US" sz="1300" dirty="0"/>
          </a:p>
          <a:p>
            <a:pPr marL="342900" indent="-342900">
              <a:spcAft>
                <a:spcPts val="600"/>
              </a:spcAft>
              <a:buSzPct val="100000"/>
              <a:buChar char="•"/>
            </a:pPr>
            <a:r>
              <a:rPr lang="en-US" sz="1300" dirty="0">
                <a:solidFill>
                  <a:srgbClr val="000000"/>
                </a:solidFill>
              </a:rPr>
              <a:t>Only deleting the RFI frees it.</a:t>
            </a:r>
            <a:endParaRPr lang="en-US" sz="1300" dirty="0"/>
          </a:p>
          <a:p>
            <a:pPr marL="342900" indent="-342900">
              <a:spcAft>
                <a:spcPts val="600"/>
              </a:spcAft>
              <a:buSzPct val="100000"/>
              <a:buChar char="•"/>
            </a:pPr>
            <a:r>
              <a:rPr lang="en-US" sz="1300" dirty="0">
                <a:solidFill>
                  <a:srgbClr val="000000"/>
                </a:solidFill>
              </a:rPr>
              <a:t>A resubmit reuses it at no extra cost.</a:t>
            </a:r>
            <a:endParaRPr lang="en-US" sz="1300" dirty="0"/>
          </a:p>
          <a:p>
            <a:pPr marL="342900" indent="-342900">
              <a:spcAft>
                <a:spcPts val="600"/>
              </a:spcAft>
              <a:buSzPct val="100000"/>
              <a:buChar char="•"/>
            </a:pPr>
            <a:r>
              <a:rPr lang="en-US" sz="1300" dirty="0">
                <a:solidFill>
                  <a:srgbClr val="000000"/>
                </a:solidFill>
              </a:rPr>
              <a:t>Out of sections? Change the Work Area, or keep the area and change the activity.</a:t>
            </a:r>
            <a:endParaRPr lang="en-US" sz="1300" dirty="0"/>
          </a:p>
        </p:txBody>
      </p:sp>
      <p:sp>
        <p:nvSpPr>
          <p:cNvPr id="6" name="card Service Orders"/>
          <p:cNvSpPr/>
          <p:nvPr/>
        </p:nvSpPr>
        <p:spPr>
          <a:xfrm>
            <a:off x="4709160" y="1051560"/>
            <a:ext cx="3977640" cy="3383280"/>
          </a:xfrm>
          <a:prstGeom prst="roundRect">
            <a:avLst>
              <a:gd name="adj" fmla="val 2162"/>
            </a:avLst>
          </a:prstGeom>
          <a:solidFill>
            <a:srgbClr val="EEF3F0"/>
          </a:solidFill>
          <a:ln w="9525">
            <a:solidFill>
              <a:srgbClr val="D3DAD5"/>
            </a:solidFill>
            <a:prstDash val="solid"/>
          </a:ln>
        </p:spPr>
      </p:sp>
      <p:sp>
        <p:nvSpPr>
          <p:cNvPr id="7" name="Text 5"/>
          <p:cNvSpPr txBox="1"/>
          <p:nvPr/>
        </p:nvSpPr>
        <p:spPr>
          <a:xfrm>
            <a:off x="4873752" y="1161288"/>
            <a:ext cx="3648456" cy="320040"/>
          </a:xfrm>
          <a:prstGeom prst="rect">
            <a:avLst/>
          </a:prstGeom>
          <a:noFill/>
          <a:ln/>
        </p:spPr>
        <p:txBody>
          <a:bodyPr wrap="square" lIns="0" tIns="0" rIns="0" bIns="0" rtlCol="0" anchor="t"/>
          <a:lstStyle/>
          <a:p>
            <a:pPr indent="0" marL="0">
              <a:buNone/>
            </a:pPr>
            <a:r>
              <a:rPr lang="en-US" sz="1600" b="1" dirty="0">
                <a:solidFill>
                  <a:srgbClr val="0B3D36"/>
                </a:solidFill>
                <a:latin typeface="Cambria" pitchFamily="34" charset="0"/>
                <a:ea typeface="Cambria" pitchFamily="34" charset="-122"/>
                <a:cs typeface="Cambria" pitchFamily="34" charset="-120"/>
              </a:rPr>
              <a:t>Service Orders</a:t>
            </a:r>
            <a:endParaRPr lang="en-US" sz="1600" dirty="0"/>
          </a:p>
        </p:txBody>
      </p:sp>
      <p:sp>
        <p:nvSpPr>
          <p:cNvPr id="8" name="Text 6"/>
          <p:cNvSpPr txBox="1"/>
          <p:nvPr/>
        </p:nvSpPr>
        <p:spPr>
          <a:xfrm>
            <a:off x="4873752" y="1554480"/>
            <a:ext cx="365760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00000"/>
                </a:solidFill>
              </a:rPr>
              <a:t>CI and CM are assigned in WAM with a Service Order.</a:t>
            </a:r>
            <a:endParaRPr lang="en-US" sz="1300" dirty="0"/>
          </a:p>
          <a:p>
            <a:pPr marL="342900" indent="-342900">
              <a:spcAft>
                <a:spcPts val="600"/>
              </a:spcAft>
              <a:buSzPct val="100000"/>
              <a:buChar char="•"/>
            </a:pPr>
            <a:r>
              <a:rPr lang="en-US" sz="1300" dirty="0">
                <a:solidFill>
                  <a:srgbClr val="000000"/>
                </a:solidFill>
              </a:rPr>
              <a:t>Each vendor's SO is mapped to specific activities.</a:t>
            </a:r>
            <a:endParaRPr lang="en-US" sz="1300" dirty="0"/>
          </a:p>
          <a:p>
            <a:pPr marL="342900" indent="-342900">
              <a:spcAft>
                <a:spcPts val="600"/>
              </a:spcAft>
              <a:buSzPct val="100000"/>
              <a:buChar char="•"/>
            </a:pPr>
            <a:r>
              <a:rPr lang="en-US" sz="1300" dirty="0">
                <a:solidFill>
                  <a:srgbClr val="000000"/>
                </a:solidFill>
              </a:rPr>
              <a:t>So two contractors can share a Work Area, each limited to their own activity.</a:t>
            </a:r>
            <a:endParaRPr lang="en-US" sz="1300" dirty="0"/>
          </a:p>
          <a:p>
            <a:pPr marL="342900" indent="-342900">
              <a:spcAft>
                <a:spcPts val="600"/>
              </a:spcAft>
              <a:buSzPct val="100000"/>
              <a:buChar char="•"/>
            </a:pPr>
            <a:r>
              <a:rPr lang="en-US" sz="1300" dirty="0">
                <a:solidFill>
                  <a:srgbClr val="000000"/>
                </a:solidFill>
              </a:rPr>
              <a:t>EE and QI are not SO-scoped. SO mapping itself now lives in DRS.</a:t>
            </a:r>
            <a:endParaRPr lang="en-US" sz="13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86661"/>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B3D36"/>
                </a:solidFill>
                <a:latin typeface="Cambria" pitchFamily="34" charset="0"/>
                <a:ea typeface="Cambria" pitchFamily="34" charset="-122"/>
                <a:cs typeface="Cambria" pitchFamily="34" charset="-120"/>
              </a:rPr>
              <a:t>Four levels, picked top-down</a:t>
            </a:r>
            <a:endParaRPr lang="en-US" sz="3000" dirty="0"/>
          </a:p>
        </p:txBody>
      </p:sp>
      <p:sp>
        <p:nvSpPr>
          <p:cNvPr id="3" name="Shape 1"/>
          <p:cNvSpPr/>
          <p:nvPr/>
        </p:nvSpPr>
        <p:spPr>
          <a:xfrm>
            <a:off x="457200" y="1097280"/>
            <a:ext cx="1920240" cy="1920240"/>
          </a:xfrm>
          <a:prstGeom prst="roundRect">
            <a:avLst>
              <a:gd name="adj" fmla="val 3810"/>
            </a:avLst>
          </a:prstGeom>
          <a:solidFill>
            <a:srgbClr val="EEF3F0"/>
          </a:solidFill>
          <a:ln w="9525">
            <a:solidFill>
              <a:srgbClr val="D3DAD5"/>
            </a:solidFill>
            <a:prstDash val="solid"/>
          </a:ln>
        </p:spPr>
      </p:sp>
      <p:sp>
        <p:nvSpPr>
          <p:cNvPr id="4" name="Text 2"/>
          <p:cNvSpPr txBox="1"/>
          <p:nvPr/>
        </p:nvSpPr>
        <p:spPr>
          <a:xfrm>
            <a:off x="594360" y="1207008"/>
            <a:ext cx="1645920" cy="228600"/>
          </a:xfrm>
          <a:prstGeom prst="rect">
            <a:avLst/>
          </a:prstGeom>
          <a:noFill/>
          <a:ln/>
        </p:spPr>
        <p:txBody>
          <a:bodyPr wrap="square" lIns="0" tIns="0" rIns="0" bIns="0" rtlCol="0" anchor="ctr"/>
          <a:lstStyle/>
          <a:p>
            <a:pPr indent="0" marL="0">
              <a:buNone/>
            </a:pPr>
            <a:r>
              <a:rPr lang="en-US" sz="1100" b="1" dirty="0">
                <a:solidFill>
                  <a:srgbClr val="586661"/>
                </a:solidFill>
              </a:rPr>
              <a:t>CLUSTER</a:t>
            </a:r>
            <a:endParaRPr lang="en-US" sz="1100" dirty="0"/>
          </a:p>
        </p:txBody>
      </p:sp>
      <p:sp>
        <p:nvSpPr>
          <p:cNvPr id="5" name="Text 3"/>
          <p:cNvSpPr txBox="1"/>
          <p:nvPr/>
        </p:nvSpPr>
        <p:spPr>
          <a:xfrm>
            <a:off x="594360" y="1508760"/>
            <a:ext cx="1645920" cy="548640"/>
          </a:xfrm>
          <a:prstGeom prst="rect">
            <a:avLst/>
          </a:prstGeom>
          <a:noFill/>
          <a:ln/>
        </p:spPr>
        <p:txBody>
          <a:bodyPr wrap="square" lIns="0" tIns="0" rIns="0" bIns="0" rtlCol="0" anchor="ctr"/>
          <a:lstStyle/>
          <a:p>
            <a:pPr indent="0" marL="0">
              <a:buNone/>
            </a:pPr>
            <a:r>
              <a:rPr lang="en-US" sz="3200" b="1" dirty="0">
                <a:solidFill>
                  <a:srgbClr val="0B3D36"/>
                </a:solidFill>
                <a:latin typeface="Cambria" pitchFamily="34" charset="0"/>
                <a:ea typeface="Cambria" pitchFamily="34" charset="-122"/>
                <a:cs typeface="Cambria" pitchFamily="34" charset="-120"/>
              </a:rPr>
              <a:t>2</a:t>
            </a:r>
            <a:endParaRPr lang="en-US" sz="3200" dirty="0"/>
          </a:p>
        </p:txBody>
      </p:sp>
      <p:sp>
        <p:nvSpPr>
          <p:cNvPr id="6" name="Text 4"/>
          <p:cNvSpPr txBox="1"/>
          <p:nvPr/>
        </p:nvSpPr>
        <p:spPr>
          <a:xfrm>
            <a:off x="594360" y="2148840"/>
            <a:ext cx="1645920" cy="777240"/>
          </a:xfrm>
          <a:prstGeom prst="rect">
            <a:avLst/>
          </a:prstGeom>
          <a:noFill/>
          <a:ln/>
        </p:spPr>
        <p:txBody>
          <a:bodyPr wrap="square" lIns="0" tIns="0" rIns="0" bIns="0" rtlCol="0" anchor="t"/>
          <a:lstStyle/>
          <a:p>
            <a:pPr indent="0" marL="0">
              <a:buNone/>
            </a:pPr>
            <a:r>
              <a:rPr lang="en-US" sz="1200" dirty="0">
                <a:solidFill>
                  <a:srgbClr val="16201D"/>
                </a:solidFill>
              </a:rPr>
              <a:t>Gujarat, Rajasthan</a:t>
            </a:r>
            <a:endParaRPr lang="en-US" sz="1200" dirty="0"/>
          </a:p>
        </p:txBody>
      </p:sp>
      <p:sp>
        <p:nvSpPr>
          <p:cNvPr id="7" name="Text 5"/>
          <p:cNvSpPr txBox="1"/>
          <p:nvPr/>
        </p:nvSpPr>
        <p:spPr>
          <a:xfrm>
            <a:off x="2377440" y="1828800"/>
            <a:ext cx="164592" cy="365760"/>
          </a:xfrm>
          <a:prstGeom prst="rect">
            <a:avLst/>
          </a:prstGeom>
          <a:noFill/>
          <a:ln/>
        </p:spPr>
        <p:txBody>
          <a:bodyPr wrap="square" lIns="0" tIns="0" rIns="0" bIns="0" rtlCol="0" anchor="ctr"/>
          <a:lstStyle/>
          <a:p>
            <a:pPr algn="ctr" indent="0" marL="0">
              <a:buNone/>
            </a:pPr>
            <a:r>
              <a:rPr lang="en-US" sz="1800" dirty="0">
                <a:solidFill>
                  <a:srgbClr val="586661"/>
                </a:solidFill>
              </a:rPr>
              <a:t>›</a:t>
            </a:r>
            <a:endParaRPr lang="en-US" sz="1800" dirty="0"/>
          </a:p>
        </p:txBody>
      </p:sp>
      <p:sp>
        <p:nvSpPr>
          <p:cNvPr id="8" name="Shape 6"/>
          <p:cNvSpPr/>
          <p:nvPr/>
        </p:nvSpPr>
        <p:spPr>
          <a:xfrm>
            <a:off x="2542032" y="1097280"/>
            <a:ext cx="1920240" cy="1920240"/>
          </a:xfrm>
          <a:prstGeom prst="roundRect">
            <a:avLst>
              <a:gd name="adj" fmla="val 3810"/>
            </a:avLst>
          </a:prstGeom>
          <a:solidFill>
            <a:srgbClr val="EEF3F0"/>
          </a:solidFill>
          <a:ln w="9525">
            <a:solidFill>
              <a:srgbClr val="D3DAD5"/>
            </a:solidFill>
            <a:prstDash val="solid"/>
          </a:ln>
        </p:spPr>
      </p:sp>
      <p:sp>
        <p:nvSpPr>
          <p:cNvPr id="9" name="Text 7"/>
          <p:cNvSpPr txBox="1"/>
          <p:nvPr/>
        </p:nvSpPr>
        <p:spPr>
          <a:xfrm>
            <a:off x="2679192" y="1207008"/>
            <a:ext cx="1645920" cy="228600"/>
          </a:xfrm>
          <a:prstGeom prst="rect">
            <a:avLst/>
          </a:prstGeom>
          <a:noFill/>
          <a:ln/>
        </p:spPr>
        <p:txBody>
          <a:bodyPr wrap="square" lIns="0" tIns="0" rIns="0" bIns="0" rtlCol="0" anchor="ctr"/>
          <a:lstStyle/>
          <a:p>
            <a:pPr indent="0" marL="0">
              <a:buNone/>
            </a:pPr>
            <a:r>
              <a:rPr lang="en-US" sz="1100" b="1" dirty="0">
                <a:solidFill>
                  <a:srgbClr val="586661"/>
                </a:solidFill>
              </a:rPr>
              <a:t>SITE</a:t>
            </a:r>
            <a:endParaRPr lang="en-US" sz="1100" dirty="0"/>
          </a:p>
        </p:txBody>
      </p:sp>
      <p:sp>
        <p:nvSpPr>
          <p:cNvPr id="10" name="Text 8"/>
          <p:cNvSpPr txBox="1"/>
          <p:nvPr/>
        </p:nvSpPr>
        <p:spPr>
          <a:xfrm>
            <a:off x="2679192" y="1508760"/>
            <a:ext cx="1645920" cy="548640"/>
          </a:xfrm>
          <a:prstGeom prst="rect">
            <a:avLst/>
          </a:prstGeom>
          <a:noFill/>
          <a:ln/>
        </p:spPr>
        <p:txBody>
          <a:bodyPr wrap="square" lIns="0" tIns="0" rIns="0" bIns="0" rtlCol="0" anchor="ctr"/>
          <a:lstStyle/>
          <a:p>
            <a:pPr indent="0" marL="0">
              <a:buNone/>
            </a:pPr>
            <a:r>
              <a:rPr lang="en-US" sz="3200" b="1" dirty="0">
                <a:solidFill>
                  <a:srgbClr val="0B3D36"/>
                </a:solidFill>
                <a:latin typeface="Cambria" pitchFamily="34" charset="0"/>
                <a:ea typeface="Cambria" pitchFamily="34" charset="-122"/>
                <a:cs typeface="Cambria" pitchFamily="34" charset="-120"/>
              </a:rPr>
              <a:t>5</a:t>
            </a:r>
            <a:endParaRPr lang="en-US" sz="3200" dirty="0"/>
          </a:p>
        </p:txBody>
      </p:sp>
      <p:sp>
        <p:nvSpPr>
          <p:cNvPr id="11" name="Text 9"/>
          <p:cNvSpPr txBox="1"/>
          <p:nvPr/>
        </p:nvSpPr>
        <p:spPr>
          <a:xfrm>
            <a:off x="2679192" y="2148840"/>
            <a:ext cx="1645920" cy="777240"/>
          </a:xfrm>
          <a:prstGeom prst="rect">
            <a:avLst/>
          </a:prstGeom>
          <a:noFill/>
          <a:ln/>
        </p:spPr>
        <p:txBody>
          <a:bodyPr wrap="square" lIns="0" tIns="0" rIns="0" bIns="0" rtlCol="0" anchor="t"/>
          <a:lstStyle/>
          <a:p>
            <a:pPr indent="0" marL="0">
              <a:buNone/>
            </a:pPr>
            <a:r>
              <a:rPr lang="en-US" sz="1200" dirty="0">
                <a:solidFill>
                  <a:srgbClr val="16201D"/>
                </a:solidFill>
              </a:rPr>
              <a:t>Khavda, Mandvi, Mundra, Baiya, Bandha</a:t>
            </a:r>
            <a:endParaRPr lang="en-US" sz="1200" dirty="0"/>
          </a:p>
        </p:txBody>
      </p:sp>
      <p:sp>
        <p:nvSpPr>
          <p:cNvPr id="12" name="Text 10"/>
          <p:cNvSpPr txBox="1"/>
          <p:nvPr/>
        </p:nvSpPr>
        <p:spPr>
          <a:xfrm>
            <a:off x="4462272" y="1828800"/>
            <a:ext cx="164592" cy="365760"/>
          </a:xfrm>
          <a:prstGeom prst="rect">
            <a:avLst/>
          </a:prstGeom>
          <a:noFill/>
          <a:ln/>
        </p:spPr>
        <p:txBody>
          <a:bodyPr wrap="square" lIns="0" tIns="0" rIns="0" bIns="0" rtlCol="0" anchor="ctr"/>
          <a:lstStyle/>
          <a:p>
            <a:pPr algn="ctr" indent="0" marL="0">
              <a:buNone/>
            </a:pPr>
            <a:r>
              <a:rPr lang="en-US" sz="1800" dirty="0">
                <a:solidFill>
                  <a:srgbClr val="586661"/>
                </a:solidFill>
              </a:rPr>
              <a:t>›</a:t>
            </a:r>
            <a:endParaRPr lang="en-US" sz="1800" dirty="0"/>
          </a:p>
        </p:txBody>
      </p:sp>
      <p:sp>
        <p:nvSpPr>
          <p:cNvPr id="13" name="Shape 11"/>
          <p:cNvSpPr/>
          <p:nvPr/>
        </p:nvSpPr>
        <p:spPr>
          <a:xfrm>
            <a:off x="4626864" y="1097280"/>
            <a:ext cx="1920240" cy="1920240"/>
          </a:xfrm>
          <a:prstGeom prst="roundRect">
            <a:avLst>
              <a:gd name="adj" fmla="val 3810"/>
            </a:avLst>
          </a:prstGeom>
          <a:solidFill>
            <a:srgbClr val="EEF3F0"/>
          </a:solidFill>
          <a:ln w="9525">
            <a:solidFill>
              <a:srgbClr val="D3DAD5"/>
            </a:solidFill>
            <a:prstDash val="solid"/>
          </a:ln>
        </p:spPr>
      </p:sp>
      <p:sp>
        <p:nvSpPr>
          <p:cNvPr id="14" name="Text 12"/>
          <p:cNvSpPr txBox="1"/>
          <p:nvPr/>
        </p:nvSpPr>
        <p:spPr>
          <a:xfrm>
            <a:off x="4764024" y="1207008"/>
            <a:ext cx="1645920" cy="228600"/>
          </a:xfrm>
          <a:prstGeom prst="rect">
            <a:avLst/>
          </a:prstGeom>
          <a:noFill/>
          <a:ln/>
        </p:spPr>
        <p:txBody>
          <a:bodyPr wrap="square" lIns="0" tIns="0" rIns="0" bIns="0" rtlCol="0" anchor="ctr"/>
          <a:lstStyle/>
          <a:p>
            <a:pPr indent="0" marL="0">
              <a:buNone/>
            </a:pPr>
            <a:r>
              <a:rPr lang="en-US" sz="1100" b="1" dirty="0">
                <a:solidFill>
                  <a:srgbClr val="586661"/>
                </a:solidFill>
              </a:rPr>
              <a:t>WORK LOCATION</a:t>
            </a:r>
            <a:endParaRPr lang="en-US" sz="1100" dirty="0"/>
          </a:p>
        </p:txBody>
      </p:sp>
      <p:sp>
        <p:nvSpPr>
          <p:cNvPr id="15" name="Text 13"/>
          <p:cNvSpPr txBox="1"/>
          <p:nvPr/>
        </p:nvSpPr>
        <p:spPr>
          <a:xfrm>
            <a:off x="4764024" y="1508760"/>
            <a:ext cx="1645920" cy="548640"/>
          </a:xfrm>
          <a:prstGeom prst="rect">
            <a:avLst/>
          </a:prstGeom>
          <a:noFill/>
          <a:ln/>
        </p:spPr>
        <p:txBody>
          <a:bodyPr wrap="square" lIns="0" tIns="0" rIns="0" bIns="0" rtlCol="0" anchor="ctr"/>
          <a:lstStyle/>
          <a:p>
            <a:pPr indent="0" marL="0">
              <a:buNone/>
            </a:pPr>
            <a:r>
              <a:rPr lang="en-US" sz="3200" b="1" dirty="0">
                <a:solidFill>
                  <a:srgbClr val="0B3D36"/>
                </a:solidFill>
                <a:latin typeface="Cambria" pitchFamily="34" charset="0"/>
                <a:ea typeface="Cambria" pitchFamily="34" charset="-122"/>
                <a:cs typeface="Cambria" pitchFamily="34" charset="-120"/>
              </a:rPr>
              <a:t>79</a:t>
            </a:r>
            <a:endParaRPr lang="en-US" sz="3200" dirty="0"/>
          </a:p>
        </p:txBody>
      </p:sp>
      <p:sp>
        <p:nvSpPr>
          <p:cNvPr id="16" name="Text 14"/>
          <p:cNvSpPr txBox="1"/>
          <p:nvPr/>
        </p:nvSpPr>
        <p:spPr>
          <a:xfrm>
            <a:off x="4764024" y="2148840"/>
            <a:ext cx="1645920" cy="777240"/>
          </a:xfrm>
          <a:prstGeom prst="rect">
            <a:avLst/>
          </a:prstGeom>
          <a:noFill/>
          <a:ln/>
        </p:spPr>
        <p:txBody>
          <a:bodyPr wrap="square" lIns="0" tIns="0" rIns="0" bIns="0" rtlCol="0" anchor="t"/>
          <a:lstStyle/>
          <a:p>
            <a:pPr indent="0" marL="0">
              <a:buNone/>
            </a:pPr>
            <a:r>
              <a:rPr lang="en-US" sz="1200" dirty="0">
                <a:solidFill>
                  <a:srgbClr val="16201D"/>
                </a:solidFill>
              </a:rPr>
              <a:t>Also called Plot. Has a project type</a:t>
            </a:r>
            <a:endParaRPr lang="en-US" sz="1200" dirty="0"/>
          </a:p>
        </p:txBody>
      </p:sp>
      <p:sp>
        <p:nvSpPr>
          <p:cNvPr id="17" name="Text 15"/>
          <p:cNvSpPr txBox="1"/>
          <p:nvPr/>
        </p:nvSpPr>
        <p:spPr>
          <a:xfrm>
            <a:off x="6547104" y="1828800"/>
            <a:ext cx="164592" cy="365760"/>
          </a:xfrm>
          <a:prstGeom prst="rect">
            <a:avLst/>
          </a:prstGeom>
          <a:noFill/>
          <a:ln/>
        </p:spPr>
        <p:txBody>
          <a:bodyPr wrap="square" lIns="0" tIns="0" rIns="0" bIns="0" rtlCol="0" anchor="ctr"/>
          <a:lstStyle/>
          <a:p>
            <a:pPr algn="ctr" indent="0" marL="0">
              <a:buNone/>
            </a:pPr>
            <a:r>
              <a:rPr lang="en-US" sz="1800" dirty="0">
                <a:solidFill>
                  <a:srgbClr val="586661"/>
                </a:solidFill>
              </a:rPr>
              <a:t>›</a:t>
            </a:r>
            <a:endParaRPr lang="en-US" sz="1800" dirty="0"/>
          </a:p>
        </p:txBody>
      </p:sp>
      <p:sp>
        <p:nvSpPr>
          <p:cNvPr id="18" name="Shape 16"/>
          <p:cNvSpPr/>
          <p:nvPr/>
        </p:nvSpPr>
        <p:spPr>
          <a:xfrm>
            <a:off x="6711696" y="1097280"/>
            <a:ext cx="1920240" cy="1920240"/>
          </a:xfrm>
          <a:prstGeom prst="roundRect">
            <a:avLst>
              <a:gd name="adj" fmla="val 3810"/>
            </a:avLst>
          </a:prstGeom>
          <a:solidFill>
            <a:srgbClr val="0C6A5E"/>
          </a:solidFill>
          <a:ln w="9525">
            <a:solidFill>
              <a:srgbClr val="0C6A5E"/>
            </a:solidFill>
            <a:prstDash val="solid"/>
          </a:ln>
        </p:spPr>
      </p:sp>
      <p:sp>
        <p:nvSpPr>
          <p:cNvPr id="19" name="Text 17"/>
          <p:cNvSpPr txBox="1"/>
          <p:nvPr/>
        </p:nvSpPr>
        <p:spPr>
          <a:xfrm>
            <a:off x="6848856" y="1207008"/>
            <a:ext cx="1645920" cy="228600"/>
          </a:xfrm>
          <a:prstGeom prst="rect">
            <a:avLst/>
          </a:prstGeom>
          <a:noFill/>
          <a:ln/>
        </p:spPr>
        <p:txBody>
          <a:bodyPr wrap="square" lIns="0" tIns="0" rIns="0" bIns="0" rtlCol="0" anchor="ctr"/>
          <a:lstStyle/>
          <a:p>
            <a:pPr indent="0" marL="0">
              <a:buNone/>
            </a:pPr>
            <a:r>
              <a:rPr lang="en-US" sz="1100" b="1" dirty="0">
                <a:solidFill>
                  <a:srgbClr val="CFE3DE"/>
                </a:solidFill>
              </a:rPr>
              <a:t>WORK AREA</a:t>
            </a:r>
            <a:endParaRPr lang="en-US" sz="1100" dirty="0"/>
          </a:p>
        </p:txBody>
      </p:sp>
      <p:sp>
        <p:nvSpPr>
          <p:cNvPr id="20" name="Text 18"/>
          <p:cNvSpPr txBox="1"/>
          <p:nvPr/>
        </p:nvSpPr>
        <p:spPr>
          <a:xfrm>
            <a:off x="6848856" y="1508760"/>
            <a:ext cx="16459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3,945</a:t>
            </a:r>
            <a:endParaRPr lang="en-US" sz="3200" dirty="0"/>
          </a:p>
        </p:txBody>
      </p:sp>
      <p:sp>
        <p:nvSpPr>
          <p:cNvPr id="21" name="Text 19"/>
          <p:cNvSpPr txBox="1"/>
          <p:nvPr/>
        </p:nvSpPr>
        <p:spPr>
          <a:xfrm>
            <a:off x="6848856" y="2148840"/>
            <a:ext cx="1645920" cy="777240"/>
          </a:xfrm>
          <a:prstGeom prst="rect">
            <a:avLst/>
          </a:prstGeom>
          <a:noFill/>
          <a:ln/>
        </p:spPr>
        <p:txBody>
          <a:bodyPr wrap="square" lIns="0" tIns="0" rIns="0" bIns="0" rtlCol="0" anchor="t"/>
          <a:lstStyle/>
          <a:p>
            <a:pPr indent="0" marL="0">
              <a:buNone/>
            </a:pPr>
            <a:r>
              <a:rPr lang="en-US" sz="1200" dirty="0">
                <a:solidFill>
                  <a:srgbClr val="FFFFFF"/>
                </a:solidFill>
              </a:rPr>
              <a:t>The leaf. RFIs are raised here</a:t>
            </a:r>
            <a:endParaRPr lang="en-US" sz="1200" dirty="0"/>
          </a:p>
        </p:txBody>
      </p:sp>
      <p:sp>
        <p:nvSpPr>
          <p:cNvPr id="22" name="Text 20"/>
          <p:cNvSpPr txBox="1"/>
          <p:nvPr/>
        </p:nvSpPr>
        <p:spPr>
          <a:xfrm>
            <a:off x="457200" y="3291840"/>
            <a:ext cx="8229600" cy="548640"/>
          </a:xfrm>
          <a:prstGeom prst="rect">
            <a:avLst/>
          </a:prstGeom>
          <a:noFill/>
          <a:ln/>
        </p:spPr>
        <p:txBody>
          <a:bodyPr wrap="square" lIns="0" tIns="0" rIns="0" bIns="0" rtlCol="0" anchor="ctr"/>
          <a:lstStyle/>
          <a:p>
            <a:pPr indent="0" marL="0">
              <a:buNone/>
            </a:pPr>
            <a:r>
              <a:rPr lang="en-US" sz="1400" dirty="0">
                <a:solidFill>
                  <a:srgbClr val="000000"/>
                </a:solidFill>
              </a:rPr>
              <a:t>Project type is a column on the Work Location, not a tree level: solar 55, bess 9, infra 9, wind 3, pss 2, transmission line 1. Khavda holds 73 of the 79 locations.</a:t>
            </a:r>
            <a:endParaRPr lang="en-US" sz="1400" dirty="0"/>
          </a:p>
        </p:txBody>
      </p:sp>
      <p:sp>
        <p:nvSpPr>
          <p:cNvPr id="23" name="Text 21"/>
          <p:cNvSpPr txBox="1"/>
          <p:nvPr/>
        </p:nvSpPr>
        <p:spPr>
          <a:xfrm>
            <a:off x="457200" y="4023360"/>
            <a:ext cx="8229600" cy="274320"/>
          </a:xfrm>
          <a:prstGeom prst="rect">
            <a:avLst/>
          </a:prstGeom>
          <a:noFill/>
          <a:ln/>
        </p:spPr>
        <p:txBody>
          <a:bodyPr wrap="square" lIns="0" tIns="0" rIns="0" bIns="0" rtlCol="0" anchor="ctr"/>
          <a:lstStyle/>
          <a:p>
            <a:pPr indent="0" marL="0">
              <a:buNone/>
            </a:pPr>
            <a:r>
              <a:rPr lang="en-US" sz="1200" i="1" dirty="0">
                <a:solidFill>
                  <a:srgbClr val="586661"/>
                </a:solidFill>
              </a:rPr>
              <a:t>Snapshot of 2026-08-28. The tree is authored in DRS and can change.</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86661"/>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B3D36"/>
                </a:solidFill>
                <a:latin typeface="Cambria" pitchFamily="34" charset="0"/>
                <a:ea typeface="Cambria" pitchFamily="34" charset="-122"/>
                <a:cs typeface="Cambria" pitchFamily="34" charset="-120"/>
              </a:rPr>
              <a:t>Two paths through the tree</a:t>
            </a:r>
            <a:endParaRPr lang="en-US" sz="3000" dirty="0"/>
          </a:p>
        </p:txBody>
      </p:sp>
      <p:sp>
        <p:nvSpPr>
          <p:cNvPr id="3" name="Text 1"/>
          <p:cNvSpPr txBox="1"/>
          <p:nvPr/>
        </p:nvSpPr>
        <p:spPr>
          <a:xfrm>
            <a:off x="457200" y="1005840"/>
            <a:ext cx="3977640" cy="274320"/>
          </a:xfrm>
          <a:prstGeom prst="rect">
            <a:avLst/>
          </a:prstGeom>
          <a:noFill/>
          <a:ln/>
        </p:spPr>
        <p:txBody>
          <a:bodyPr wrap="square" lIns="0" tIns="0" rIns="0" bIns="0" rtlCol="0" anchor="ctr"/>
          <a:lstStyle/>
          <a:p>
            <a:pPr indent="0" marL="0">
              <a:buNone/>
            </a:pPr>
            <a:r>
              <a:rPr lang="en-US" sz="1600" b="1" dirty="0">
                <a:solidFill>
                  <a:srgbClr val="0B3D36"/>
                </a:solidFill>
                <a:latin typeface="Cambria" pitchFamily="34" charset="0"/>
                <a:ea typeface="Cambria" pitchFamily="34" charset="-122"/>
                <a:cs typeface="Cambria" pitchFamily="34" charset="-120"/>
              </a:rPr>
              <a:t>Solar: S05b, 69 areas</a:t>
            </a:r>
            <a:endParaRPr lang="en-US" sz="1600" dirty="0"/>
          </a:p>
        </p:txBody>
      </p:sp>
      <p:sp>
        <p:nvSpPr>
          <p:cNvPr id="4" name="Text 2"/>
          <p:cNvSpPr txBox="1"/>
          <p:nvPr/>
        </p:nvSpPr>
        <p:spPr>
          <a:xfrm>
            <a:off x="457200" y="1325880"/>
            <a:ext cx="3977640" cy="502920"/>
          </a:xfrm>
          <a:prstGeom prst="rect">
            <a:avLst/>
          </a:prstGeom>
          <a:noFill/>
          <a:ln/>
        </p:spPr>
        <p:txBody>
          <a:bodyPr wrap="square" lIns="0" tIns="0" rIns="0" bIns="0" rtlCol="0" anchor="t"/>
          <a:lstStyle/>
          <a:p>
            <a:pPr indent="0" marL="0">
              <a:buNone/>
            </a:pPr>
            <a:r>
              <a:rPr lang="en-US" sz="1300" dirty="0">
                <a:solidFill>
                  <a:srgbClr val="16201D"/>
                </a:solidFill>
              </a:rPr>
              <a:t>Gujarat  ›  Khavda  ›  S05b  ›  BL01</a:t>
            </a:r>
            <a:endParaRPr lang="en-US" sz="1300" dirty="0"/>
          </a:p>
        </p:txBody>
      </p:sp>
      <p:graphicFrame>
        <p:nvGraphicFramePr>
          <p:cNvPr id="5" name="Chart 0" descr=""/>
          <p:cNvGraphicFramePr/>
          <p:nvPr/>
        </p:nvGraphicFramePr>
        <p:xfrm>
          <a:off x="457200" y="1874520"/>
          <a:ext cx="3977640" cy="17830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457200" y="3749040"/>
            <a:ext cx="3977640" cy="822960"/>
          </a:xfrm>
          <a:prstGeom prst="rect">
            <a:avLst/>
          </a:prstGeom>
          <a:noFill/>
          <a:ln/>
        </p:spPr>
        <p:txBody>
          <a:bodyPr wrap="square" lIns="0" tIns="0" rIns="0" bIns="0" rtlCol="0" anchor="t"/>
          <a:lstStyle/>
          <a:p>
            <a:pPr indent="0" marL="0">
              <a:buNone/>
            </a:pPr>
            <a:r>
              <a:rPr lang="en-US" sz="1200" dirty="0">
                <a:solidFill>
                  <a:srgbClr val="586661"/>
                </a:solidFill>
              </a:rPr>
              <a:t>Every solar location has 20 roads, 20 drains, 5 culverts and a varying number of blocks. Block activities collapse to one work section named BL01.</a:t>
            </a:r>
            <a:endParaRPr lang="en-US" sz="1200" dirty="0"/>
          </a:p>
        </p:txBody>
      </p:sp>
      <p:sp>
        <p:nvSpPr>
          <p:cNvPr id="7" name="Text 4"/>
          <p:cNvSpPr txBox="1"/>
          <p:nvPr/>
        </p:nvSpPr>
        <p:spPr>
          <a:xfrm>
            <a:off x="4709160" y="1005840"/>
            <a:ext cx="3977640" cy="274320"/>
          </a:xfrm>
          <a:prstGeom prst="rect">
            <a:avLst/>
          </a:prstGeom>
          <a:noFill/>
          <a:ln/>
        </p:spPr>
        <p:txBody>
          <a:bodyPr wrap="square" lIns="0" tIns="0" rIns="0" bIns="0" rtlCol="0" anchor="ctr"/>
          <a:lstStyle/>
          <a:p>
            <a:pPr indent="0" marL="0">
              <a:buNone/>
            </a:pPr>
            <a:r>
              <a:rPr lang="en-US" sz="1600" b="1" dirty="0">
                <a:solidFill>
                  <a:srgbClr val="0B3D36"/>
                </a:solidFill>
                <a:latin typeface="Cambria" pitchFamily="34" charset="0"/>
                <a:ea typeface="Cambria" pitchFamily="34" charset="-122"/>
                <a:cs typeface="Cambria" pitchFamily="34" charset="-120"/>
              </a:rPr>
              <a:t>Wind: WTG-Mandvi, 69 areas</a:t>
            </a:r>
            <a:endParaRPr lang="en-US" sz="1600" dirty="0"/>
          </a:p>
        </p:txBody>
      </p:sp>
      <p:sp>
        <p:nvSpPr>
          <p:cNvPr id="8" name="Text 5"/>
          <p:cNvSpPr txBox="1"/>
          <p:nvPr/>
        </p:nvSpPr>
        <p:spPr>
          <a:xfrm>
            <a:off x="4709160" y="1325880"/>
            <a:ext cx="3977640" cy="502920"/>
          </a:xfrm>
          <a:prstGeom prst="rect">
            <a:avLst/>
          </a:prstGeom>
          <a:noFill/>
          <a:ln/>
        </p:spPr>
        <p:txBody>
          <a:bodyPr wrap="square" lIns="0" tIns="0" rIns="0" bIns="0" rtlCol="0" anchor="t"/>
          <a:lstStyle/>
          <a:p>
            <a:pPr indent="0" marL="0">
              <a:buNone/>
            </a:pPr>
            <a:r>
              <a:rPr lang="en-US" sz="1300" dirty="0">
                <a:solidFill>
                  <a:srgbClr val="16201D"/>
                </a:solidFill>
              </a:rPr>
              <a:t>Gujarat  ›  Mandvi  ›  WTG-Mandvi  ›  MNP29</a:t>
            </a:r>
            <a:endParaRPr lang="en-US" sz="1300" dirty="0"/>
          </a:p>
        </p:txBody>
      </p:sp>
      <p:graphicFrame>
        <p:nvGraphicFramePr>
          <p:cNvPr id="9" name="Chart 1" descr=""/>
          <p:cNvGraphicFramePr/>
          <p:nvPr/>
        </p:nvGraphicFramePr>
        <p:xfrm>
          <a:off x="4709160" y="1874520"/>
          <a:ext cx="3977640" cy="178308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txBox="1"/>
          <p:nvPr/>
        </p:nvSpPr>
        <p:spPr>
          <a:xfrm>
            <a:off x="4709160" y="3749040"/>
            <a:ext cx="3977640" cy="822960"/>
          </a:xfrm>
          <a:prstGeom prst="rect">
            <a:avLst/>
          </a:prstGeom>
          <a:noFill/>
          <a:ln/>
        </p:spPr>
        <p:txBody>
          <a:bodyPr wrap="square" lIns="0" tIns="0" rIns="0" bIns="0" rtlCol="0" anchor="t"/>
          <a:lstStyle/>
          <a:p>
            <a:pPr indent="0" marL="0">
              <a:buNone/>
            </a:pPr>
            <a:r>
              <a:rPr lang="en-US" sz="1200" dirty="0">
                <a:solidFill>
                  <a:srgbClr val="586661"/>
                </a:solidFill>
              </a:rPr>
              <a:t>Wind areas are turbines only. Each has exactly one work section, named after the area, so one area carries one RFI per checkpoint.</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86661"/>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B3D36"/>
                </a:solidFill>
                <a:latin typeface="Cambria" pitchFamily="34" charset="0"/>
                <a:ea typeface="Cambria" pitchFamily="34" charset="-122"/>
                <a:cs typeface="Cambria" pitchFamily="34" charset="-120"/>
              </a:rPr>
              <a:t>Who sees which slice of the tree</a:t>
            </a:r>
            <a:endParaRPr lang="en-US" sz="3000" dirty="0"/>
          </a:p>
        </p:txBody>
      </p:sp>
      <p:sp>
        <p:nvSpPr>
          <p:cNvPr id="3" name="card 1  Cascade"/>
          <p:cNvSpPr/>
          <p:nvPr/>
        </p:nvSpPr>
        <p:spPr>
          <a:xfrm>
            <a:off x="457200" y="1051560"/>
            <a:ext cx="2606040" cy="2286000"/>
          </a:xfrm>
          <a:prstGeom prst="roundRect">
            <a:avLst>
              <a:gd name="adj" fmla="val 3200"/>
            </a:avLst>
          </a:prstGeom>
          <a:solidFill>
            <a:srgbClr val="EEF3F0"/>
          </a:solidFill>
          <a:ln w="9525">
            <a:solidFill>
              <a:srgbClr val="D3DAD5"/>
            </a:solidFill>
            <a:prstDash val="solid"/>
          </a:ln>
        </p:spPr>
      </p:sp>
      <p:sp>
        <p:nvSpPr>
          <p:cNvPr id="4" name="Text 2"/>
          <p:cNvSpPr txBox="1"/>
          <p:nvPr/>
        </p:nvSpPr>
        <p:spPr>
          <a:xfrm>
            <a:off x="621792" y="1161288"/>
            <a:ext cx="2276856" cy="320040"/>
          </a:xfrm>
          <a:prstGeom prst="rect">
            <a:avLst/>
          </a:prstGeom>
          <a:noFill/>
          <a:ln/>
        </p:spPr>
        <p:txBody>
          <a:bodyPr wrap="square" lIns="0" tIns="0" rIns="0" bIns="0" rtlCol="0" anchor="t"/>
          <a:lstStyle/>
          <a:p>
            <a:pPr indent="0" marL="0">
              <a:buNone/>
            </a:pPr>
            <a:r>
              <a:rPr lang="en-US" sz="1600" b="1" dirty="0">
                <a:solidFill>
                  <a:srgbClr val="0B3D36"/>
                </a:solidFill>
                <a:latin typeface="Cambria" pitchFamily="34" charset="0"/>
                <a:ea typeface="Cambria" pitchFamily="34" charset="-122"/>
                <a:cs typeface="Cambria" pitchFamily="34" charset="-120"/>
              </a:rPr>
              <a:t>1  Cascade</a:t>
            </a:r>
            <a:endParaRPr lang="en-US" sz="1600" dirty="0"/>
          </a:p>
        </p:txBody>
      </p:sp>
      <p:sp>
        <p:nvSpPr>
          <p:cNvPr id="5" name="Text 3"/>
          <p:cNvSpPr txBox="1"/>
          <p:nvPr/>
        </p:nvSpPr>
        <p:spPr>
          <a:xfrm>
            <a:off x="621792" y="1527048"/>
            <a:ext cx="2276856" cy="1719072"/>
          </a:xfrm>
          <a:prstGeom prst="rect">
            <a:avLst/>
          </a:prstGeom>
          <a:noFill/>
          <a:ln/>
        </p:spPr>
        <p:txBody>
          <a:bodyPr wrap="square" lIns="0" tIns="0" rIns="0" bIns="0" rtlCol="0" anchor="t"/>
          <a:lstStyle/>
          <a:p>
            <a:pPr indent="0" marL="0">
              <a:spcAft>
                <a:spcPts val="400"/>
              </a:spcAft>
              <a:buNone/>
            </a:pPr>
            <a:r>
              <a:rPr lang="en-US" sz="1400" dirty="0">
                <a:solidFill>
                  <a:srgbClr val="16201D"/>
                </a:solidFill>
              </a:rPr>
              <a:t>Each dropdown shows only children of the parent chosen above it.</a:t>
            </a:r>
            <a:endParaRPr lang="en-US" sz="1400" dirty="0"/>
          </a:p>
        </p:txBody>
      </p:sp>
      <p:sp>
        <p:nvSpPr>
          <p:cNvPr id="6" name="card 2  WAM"/>
          <p:cNvSpPr/>
          <p:nvPr/>
        </p:nvSpPr>
        <p:spPr>
          <a:xfrm>
            <a:off x="3268980" y="1051560"/>
            <a:ext cx="2606040" cy="2286000"/>
          </a:xfrm>
          <a:prstGeom prst="roundRect">
            <a:avLst>
              <a:gd name="adj" fmla="val 3200"/>
            </a:avLst>
          </a:prstGeom>
          <a:solidFill>
            <a:srgbClr val="EEF3F0"/>
          </a:solidFill>
          <a:ln w="9525">
            <a:solidFill>
              <a:srgbClr val="D3DAD5"/>
            </a:solidFill>
            <a:prstDash val="solid"/>
          </a:ln>
        </p:spPr>
      </p:sp>
      <p:sp>
        <p:nvSpPr>
          <p:cNvPr id="7" name="Text 5"/>
          <p:cNvSpPr txBox="1"/>
          <p:nvPr/>
        </p:nvSpPr>
        <p:spPr>
          <a:xfrm>
            <a:off x="3433572" y="1161288"/>
            <a:ext cx="2276856" cy="320040"/>
          </a:xfrm>
          <a:prstGeom prst="rect">
            <a:avLst/>
          </a:prstGeom>
          <a:noFill/>
          <a:ln/>
        </p:spPr>
        <p:txBody>
          <a:bodyPr wrap="square" lIns="0" tIns="0" rIns="0" bIns="0" rtlCol="0" anchor="t"/>
          <a:lstStyle/>
          <a:p>
            <a:pPr indent="0" marL="0">
              <a:buNone/>
            </a:pPr>
            <a:r>
              <a:rPr lang="en-US" sz="1600" b="1" dirty="0">
                <a:solidFill>
                  <a:srgbClr val="0B3D36"/>
                </a:solidFill>
                <a:latin typeface="Cambria" pitchFamily="34" charset="0"/>
                <a:ea typeface="Cambria" pitchFamily="34" charset="-122"/>
                <a:cs typeface="Cambria" pitchFamily="34" charset="-120"/>
              </a:rPr>
              <a:t>2  WAM</a:t>
            </a:r>
            <a:endParaRPr lang="en-US" sz="1600" dirty="0"/>
          </a:p>
        </p:txBody>
      </p:sp>
      <p:sp>
        <p:nvSpPr>
          <p:cNvPr id="8" name="Text 6"/>
          <p:cNvSpPr txBox="1"/>
          <p:nvPr/>
        </p:nvSpPr>
        <p:spPr>
          <a:xfrm>
            <a:off x="3433572" y="1527048"/>
            <a:ext cx="2276856" cy="1719072"/>
          </a:xfrm>
          <a:prstGeom prst="rect">
            <a:avLst/>
          </a:prstGeom>
          <a:noFill/>
          <a:ln/>
        </p:spPr>
        <p:txBody>
          <a:bodyPr wrap="square" lIns="0" tIns="0" rIns="0" bIns="0" rtlCol="0" anchor="t"/>
          <a:lstStyle/>
          <a:p>
            <a:pPr indent="0" marL="0">
              <a:spcAft>
                <a:spcPts val="400"/>
              </a:spcAft>
              <a:buNone/>
            </a:pPr>
            <a:r>
              <a:rPr lang="en-US" sz="1400" dirty="0">
                <a:solidFill>
                  <a:srgbClr val="16201D"/>
                </a:solidFill>
              </a:rPr>
              <a:t>The tree is cut to what the user is mapped to. Two PMs can see different slices.</a:t>
            </a:r>
            <a:endParaRPr lang="en-US" sz="1400" dirty="0"/>
          </a:p>
        </p:txBody>
      </p:sp>
      <p:sp>
        <p:nvSpPr>
          <p:cNvPr id="9" name="card 3  Service Order"/>
          <p:cNvSpPr/>
          <p:nvPr/>
        </p:nvSpPr>
        <p:spPr>
          <a:xfrm>
            <a:off x="6080760" y="1051560"/>
            <a:ext cx="2606040" cy="2286000"/>
          </a:xfrm>
          <a:prstGeom prst="roundRect">
            <a:avLst>
              <a:gd name="adj" fmla="val 3200"/>
            </a:avLst>
          </a:prstGeom>
          <a:solidFill>
            <a:srgbClr val="EEF3F0"/>
          </a:solidFill>
          <a:ln w="9525">
            <a:solidFill>
              <a:srgbClr val="D3DAD5"/>
            </a:solidFill>
            <a:prstDash val="solid"/>
          </a:ln>
        </p:spPr>
      </p:sp>
      <p:sp>
        <p:nvSpPr>
          <p:cNvPr id="10" name="Text 8"/>
          <p:cNvSpPr txBox="1"/>
          <p:nvPr/>
        </p:nvSpPr>
        <p:spPr>
          <a:xfrm>
            <a:off x="6245352" y="1161288"/>
            <a:ext cx="2276856" cy="320040"/>
          </a:xfrm>
          <a:prstGeom prst="rect">
            <a:avLst/>
          </a:prstGeom>
          <a:noFill/>
          <a:ln/>
        </p:spPr>
        <p:txBody>
          <a:bodyPr wrap="square" lIns="0" tIns="0" rIns="0" bIns="0" rtlCol="0" anchor="t"/>
          <a:lstStyle/>
          <a:p>
            <a:pPr indent="0" marL="0">
              <a:buNone/>
            </a:pPr>
            <a:r>
              <a:rPr lang="en-US" sz="1600" b="1" dirty="0">
                <a:solidFill>
                  <a:srgbClr val="0B3D36"/>
                </a:solidFill>
                <a:latin typeface="Cambria" pitchFamily="34" charset="0"/>
                <a:ea typeface="Cambria" pitchFamily="34" charset="-122"/>
                <a:cs typeface="Cambria" pitchFamily="34" charset="-120"/>
              </a:rPr>
              <a:t>3  Service Order</a:t>
            </a:r>
            <a:endParaRPr lang="en-US" sz="1600" dirty="0"/>
          </a:p>
        </p:txBody>
      </p:sp>
      <p:sp>
        <p:nvSpPr>
          <p:cNvPr id="11" name="Text 9"/>
          <p:cNvSpPr txBox="1"/>
          <p:nvPr/>
        </p:nvSpPr>
        <p:spPr>
          <a:xfrm>
            <a:off x="6245352" y="1527048"/>
            <a:ext cx="2276856" cy="1719072"/>
          </a:xfrm>
          <a:prstGeom prst="rect">
            <a:avLst/>
          </a:prstGeom>
          <a:noFill/>
          <a:ln/>
        </p:spPr>
        <p:txBody>
          <a:bodyPr wrap="square" lIns="0" tIns="0" rIns="0" bIns="0" rtlCol="0" anchor="t"/>
          <a:lstStyle/>
          <a:p>
            <a:pPr indent="0" marL="0">
              <a:spcAft>
                <a:spcPts val="400"/>
              </a:spcAft>
              <a:buNone/>
            </a:pPr>
            <a:r>
              <a:rPr lang="en-US" sz="1400" dirty="0">
                <a:solidFill>
                  <a:srgbClr val="16201D"/>
                </a:solidFill>
              </a:rPr>
              <a:t>Contractor roles see only areas where their SO is mapped.</a:t>
            </a:r>
            <a:endParaRPr lang="en-US" sz="1400" dirty="0"/>
          </a:p>
        </p:txBody>
      </p:sp>
      <p:sp>
        <p:nvSpPr>
          <p:cNvPr id="12" name="card Missing option?"/>
          <p:cNvSpPr/>
          <p:nvPr/>
        </p:nvSpPr>
        <p:spPr>
          <a:xfrm>
            <a:off x="457200" y="3520440"/>
            <a:ext cx="8229600" cy="914400"/>
          </a:xfrm>
          <a:prstGeom prst="roundRect">
            <a:avLst>
              <a:gd name="adj" fmla="val 8000"/>
            </a:avLst>
          </a:prstGeom>
          <a:solidFill>
            <a:srgbClr val="FBECCD"/>
          </a:solidFill>
          <a:ln w="9525">
            <a:solidFill>
              <a:srgbClr val="E8C98A"/>
            </a:solidFill>
            <a:prstDash val="solid"/>
          </a:ln>
        </p:spPr>
      </p:sp>
      <p:sp>
        <p:nvSpPr>
          <p:cNvPr id="13" name="Text 11"/>
          <p:cNvSpPr txBox="1"/>
          <p:nvPr/>
        </p:nvSpPr>
        <p:spPr>
          <a:xfrm>
            <a:off x="621792" y="3630168"/>
            <a:ext cx="7900416" cy="320040"/>
          </a:xfrm>
          <a:prstGeom prst="rect">
            <a:avLst/>
          </a:prstGeom>
          <a:noFill/>
          <a:ln/>
        </p:spPr>
        <p:txBody>
          <a:bodyPr wrap="square" lIns="0" tIns="0" rIns="0" bIns="0" rtlCol="0" anchor="t"/>
          <a:lstStyle/>
          <a:p>
            <a:pPr indent="0" marL="0">
              <a:buNone/>
            </a:pPr>
            <a:r>
              <a:rPr lang="en-US" sz="1600" b="1" dirty="0">
                <a:solidFill>
                  <a:srgbClr val="8A5200"/>
                </a:solidFill>
                <a:latin typeface="Cambria" pitchFamily="34" charset="0"/>
                <a:ea typeface="Cambria" pitchFamily="34" charset="-122"/>
                <a:cs typeface="Cambria" pitchFamily="34" charset="-120"/>
              </a:rPr>
              <a:t>Missing option?</a:t>
            </a:r>
            <a:endParaRPr lang="en-US" sz="1600" dirty="0"/>
          </a:p>
        </p:txBody>
      </p:sp>
      <p:sp>
        <p:nvSpPr>
          <p:cNvPr id="14" name="Text 12"/>
          <p:cNvSpPr txBox="1"/>
          <p:nvPr/>
        </p:nvSpPr>
        <p:spPr>
          <a:xfrm>
            <a:off x="621792" y="3995928"/>
            <a:ext cx="7900416" cy="347472"/>
          </a:xfrm>
          <a:prstGeom prst="rect">
            <a:avLst/>
          </a:prstGeom>
          <a:noFill/>
          <a:ln/>
        </p:spPr>
        <p:txBody>
          <a:bodyPr wrap="square" lIns="0" tIns="0" rIns="0" bIns="0" rtlCol="0" anchor="t"/>
          <a:lstStyle/>
          <a:p>
            <a:pPr indent="0" marL="0">
              <a:spcAft>
                <a:spcPts val="400"/>
              </a:spcAft>
              <a:buNone/>
            </a:pPr>
            <a:r>
              <a:rPr lang="en-US" sz="1300" dirty="0">
                <a:solidFill>
                  <a:srgbClr val="16201D"/>
                </a:solidFill>
              </a:rPr>
              <a:t>First check the parent selection and the user's mapping before calling it a bug. The tree itself is edited in DRS, which syncs to PULSE.</a:t>
            </a:r>
            <a:endParaRPr lang="en-US" sz="13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86661"/>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548640"/>
            <a:ext cx="786384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Good to know</a:t>
            </a:r>
            <a:endParaRPr lang="en-US" sz="3600" dirty="0"/>
          </a:p>
        </p:txBody>
      </p:sp>
      <p:sp>
        <p:nvSpPr>
          <p:cNvPr id="3" name="Text 1"/>
          <p:cNvSpPr txBox="1"/>
          <p:nvPr/>
        </p:nvSpPr>
        <p:spPr>
          <a:xfrm>
            <a:off x="640080" y="1463040"/>
            <a:ext cx="7863840" cy="29260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E8F1EE"/>
                </a:solidFill>
              </a:rPr>
              <a:t>Offline PWA roles (CI, EE, QI) need a few minutes on first load. Online roles open in seconds.</a:t>
            </a:r>
            <a:endParaRPr lang="en-US" sz="1600" dirty="0"/>
          </a:p>
          <a:p>
            <a:pPr marL="342900" indent="-342900">
              <a:spcAft>
                <a:spcPts val="600"/>
              </a:spcAft>
              <a:buSzPct val="100000"/>
              <a:buChar char="•"/>
            </a:pPr>
            <a:r>
              <a:rPr lang="en-US" sz="1600" dirty="0">
                <a:solidFill>
                  <a:srgbClr val="E8F1EE"/>
                </a:solidFill>
              </a:rPr>
              <a:t>New users can log in straight away, with no manual database step.</a:t>
            </a:r>
            <a:endParaRPr lang="en-US" sz="1600" dirty="0"/>
          </a:p>
          <a:p>
            <a:pPr marL="342900" indent="-342900">
              <a:spcAft>
                <a:spcPts val="600"/>
              </a:spcAft>
              <a:buSzPct val="100000"/>
              <a:buChar char="•"/>
            </a:pPr>
            <a:r>
              <a:rPr lang="en-US" sz="1600" dirty="0">
                <a:solidFill>
                  <a:srgbClr val="E8F1EE"/>
                </a:solidFill>
              </a:rPr>
              <a:t>SO Mapping in the sidebar hands off to DRS. A DRS login or page is expected.</a:t>
            </a:r>
            <a:endParaRPr lang="en-US" sz="1600" dirty="0"/>
          </a:p>
          <a:p>
            <a:pPr marL="342900" indent="-342900">
              <a:spcAft>
                <a:spcPts val="600"/>
              </a:spcAft>
              <a:buSzPct val="100000"/>
              <a:buChar char="•"/>
            </a:pPr>
            <a:r>
              <a:rPr lang="en-US" sz="1600" dirty="0">
                <a:solidFill>
                  <a:srgbClr val="E8F1EE"/>
                </a:solidFill>
              </a:rPr>
              <a:t>A work section is used up per (sub-activity, checkpoint, work section).</a:t>
            </a:r>
            <a:endParaRPr lang="en-US" sz="1600" dirty="0"/>
          </a:p>
          <a:p>
            <a:pPr marL="342900" indent="-342900">
              <a:spcAft>
                <a:spcPts val="600"/>
              </a:spcAft>
              <a:buSzPct val="100000"/>
              <a:buChar char="•"/>
            </a:pPr>
            <a:r>
              <a:rPr lang="en-US" sz="1600" dirty="0">
                <a:solidFill>
                  <a:srgbClr val="E8F1EE"/>
                </a:solidFill>
              </a:rPr>
              <a:t>A pending NC blocks new RFIs on the same checkpoint and work section.</a:t>
            </a:r>
            <a:endParaRPr lang="en-US" sz="16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FC4BC"/>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PULSE KT">
  <a:themeElements>
    <a:clrScheme name="PULSE KT">
      <a:dk1>
        <a:srgbClr val="16201D"/>
      </a:dk1>
      <a:lt1>
        <a:srgbClr val="FFFFFF"/>
      </a:lt1>
      <a:dk2>
        <a:srgbClr val="0B3D36"/>
      </a:dk2>
      <a:lt2>
        <a:srgbClr val="EEF3F0"/>
      </a:lt2>
      <a:accent1>
        <a:srgbClr val="0C6A5E"/>
      </a:accent1>
      <a:accent2>
        <a:srgbClr val="D98A00"/>
      </a:accent2>
      <a:accent3>
        <a:srgbClr val="2B5FA8"/>
      </a:accent3>
      <a:accent4>
        <a:srgbClr val="8A5A9C"/>
      </a:accent4>
      <a:accent5>
        <a:srgbClr val="1F7A3D"/>
      </a:accent5>
      <a:accent6>
        <a:srgbClr val="B3261E"/>
      </a:accent6>
      <a:hlink>
        <a:srgbClr val="2B5FA8"/>
      </a:hlink>
      <a:folHlink>
        <a:srgbClr val="8A5A9C"/>
      </a:folHlink>
    </a:clrScheme>
    <a:fontScheme name="PULSE K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PULSE Knowledge Transfer</dc:title>
  <dc:subject>PptxGenJS Presentation</dc:subject>
  <dc:creator>PptxGenJS</dc:creator>
  <cp:lastModifiedBy>PptxGenJS</cp:lastModifiedBy>
  <cp:revision>1</cp:revision>
  <dcterms:created xsi:type="dcterms:W3CDTF">2026-10-09T11:07:12Z</dcterms:created>
  <dcterms:modified xsi:type="dcterms:W3CDTF">2026-10-09T11:07:12Z</dcterms:modified>
</cp:coreProperties>
</file>